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notesMasterIdLst>
    <p:notesMasterId r:id="rId2"/>
  </p:notesMasterIdLst>
  <p:sldIdLst>
    <p:sldId id="257" r:id="rId3"/>
    <p:sldId id="27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70" r:id="rId12"/>
    <p:sldId id="271" r:id="rId13"/>
    <p:sldId id="272" r:id="rId14"/>
    <p:sldId id="273" r:id="rId15"/>
    <p:sldId id="274" r:id="rId16"/>
    <p:sldId id="275" r:id="rId17"/>
    <p:sldId id="280" r:id="rId18"/>
    <p:sldId id="285" r:id="rId19"/>
    <p:sldId id="281" r:id="rId20"/>
    <p:sldId id="282" r:id="rId21"/>
    <p:sldId id="284" r:id="rId22"/>
    <p:sldId id="276" r:id="rId23"/>
    <p:sldId id="277" r:id="rId24"/>
    <p:sldId id="25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8767" autoAdjust="0"/>
    <p:restoredTop sz="94872" autoAdjust="0"/>
  </p:normalViewPr>
  <p:slideViewPr>
    <p:cSldViewPr snapToGrid="0">
      <p:cViewPr varScale="1">
        <p:scale>
          <a:sx n="100" d="100"/>
          <a:sy n="100" d="100"/>
        </p:scale>
        <p:origin x="1186" y="48"/>
      </p:cViewPr>
    </p:cSldViewPr>
  </p:slideViewPr>
  <p:outlineViewPr>
    <p:cViewPr>
      <p:scale>
        <a:sx n="33" d="100"/>
        <a:sy n="33" d="100"/>
      </p:scale>
      <p:origin x="0" y="-523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presProps" Target="presProps.xml"  /><Relationship Id="rId27" Type="http://schemas.openxmlformats.org/officeDocument/2006/relationships/viewProps" Target="viewProps.xml"  /><Relationship Id="rId28" Type="http://schemas.openxmlformats.org/officeDocument/2006/relationships/theme" Target="theme/theme1.xml"  /><Relationship Id="rId29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CC0625CB-5B0C-493E-B2F7-D5291741C784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2422E86F-F110-4D93-91CC-4398B890A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886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C4E3-4B94-D7B9-4FC4-79A613A8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57641-17C9-04DF-733D-8162E8B81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61C02-636F-8B9F-C677-D7150430F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92D15-F6FD-C8A4-60F0-74C5A0A67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21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3A9F-9CFC-E1B9-61FE-52CAB6311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0EDF5-03F0-DA13-827A-4102BDA08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991DB-383E-3DEE-8077-473C49B5B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ED081-E368-EBBE-118B-0E6FECC92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41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C196-3E35-193B-6CCB-BA38A3BF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6BEF3-5FF5-85A3-221F-5ACE81006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4B257-CD33-DF33-639D-16851375C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20B78-D8FC-CCB8-E114-901A270D4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927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9E001-B7ED-EAEB-548A-CF3D86D9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A8F47-B99C-B005-FAFA-8A70303FE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44733-317F-3CA1-D4FA-A8DEDF992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0F0A3-4C89-7554-47BA-0D90AA6B32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30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69D4-82FC-7347-2EBA-5310ADE9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7AC84-CE6E-FD3C-ED08-E9DF5D4B8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7D82B-AE01-A2FF-7CCD-4EA918720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5A0B5-021E-E0D6-1FC7-4525AEF68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3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5B056-53BE-0707-3422-59887059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90A707-AEE5-D131-FF03-30ACE3B96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D8A82-447D-9E27-7175-37B7E423A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295FF-405C-BDA5-E8D6-F8D0C9D5A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587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C89FA-CD36-9700-C458-3EB532781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F3D441-36EF-80EC-9070-C084D277B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2725F-0211-08F5-BA65-13677A5A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53E21-1966-7151-FF58-67BCAB41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3BB421-29E2-CD16-B8F7-1693E743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10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2862-701F-7F28-3AA9-E74DDE6F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B7CBAC-FBFD-8AC2-C334-4DDED655B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46454-F798-3784-83B7-FC8E9817C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7D249F-6EFD-ACE6-401B-B0DE3DE8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02F042-1F3C-C131-6679-B0917F92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1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17AE4-D0DD-D4DB-58B1-3458FDAA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F241F0-2E81-BED0-3633-9099F471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13F7D0-F954-2A5A-132B-E04EB877D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B4A41A-C91A-CCD7-3F70-64392E7B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C05EBF-B1E5-5F7B-1C84-841FD3DC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45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D9E32-3BD7-46C8-95BD-00E2505F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69834F-1C8F-BBDA-CA4F-A37E6E8F0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C6F962-EE06-B05F-C868-8209FC14D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C181D9-84E3-A32D-4EAA-7F8B2ACC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D05C88-AB28-1B9A-C2D4-D7387C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489D70-F194-E4FA-F740-2559EACF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77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95485-52AA-9C9E-9A01-956B9EB1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22E34F-EBE1-47F0-A05C-7EC4AFEB3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485606-8E71-6373-9A54-CEEEF93CA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223440-7162-F13D-EA3E-2890C4CAD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8CD017-650E-F78A-3A6A-667AC313AB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800A44-61D4-2480-EA40-1670CB196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83790C-3682-EE73-AF8B-E261965B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36E439-6316-0D1E-82AD-DAAAEC18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3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62F371-728F-D189-1235-418B7261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308F8E-C76B-8707-8C18-A6915152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99B32A-6184-77AC-BB3F-D3C13CE1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EFDBDE-AAAD-69FF-A936-C8A2500C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8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66E15C-0EB5-6691-BD73-DCB2FBCB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ABBD6C-A7B7-E9CF-46F6-5C06084FB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61A42-7184-054C-E49F-B101EE45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80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7BDB5-C7B9-7047-B61A-528CDB94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5A829-11D2-1F77-CEAF-7BABF626D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CE1EE3-4EBF-EDC9-1135-14CD2756B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012213-6609-001D-B498-36AB3785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DF34A1-526E-5DD2-50DE-D4E598B03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E8245F-7808-9B1E-3902-5BF3D71F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11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E967-670D-8B9E-0A76-09EB409E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88BE50-0572-89FE-F21B-CE565F3EC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497F7-C45A-8718-B20D-6CE7B5C92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DEDA03-93D4-67D7-2903-4945073A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D9D1AF-A03F-5ECE-382A-18BC66B8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DC4F7B-9ED0-C391-F98E-980BACC7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31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FEF0F-B2DD-1A0D-4C6B-8E2C9538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578A9F-00C6-6955-53E3-C05986283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41FA4A-E686-6691-D1B7-93715340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875B0-B2CC-3073-8B57-981BD3326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539807-5870-983E-03DD-400F6F88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43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634DE8-AD38-4F3C-DA2E-84860BE04C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9FB67B-FBF2-3044-696C-FE6D0618F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351E24-3E97-B1D6-6ECC-EECF2C9D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2620-947A-E65D-D35D-92B5DE22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9CF2F2-7339-8651-BB92-ECACB1DD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759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578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54584E-38DD-3CBD-2E18-712EC0ED0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923E15-F7D6-4174-F766-477B40EA4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6B9920-078C-E311-3A4A-5F384ED5F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DDC2B-3432-456F-966E-68B0E923F44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384B0B-6EE2-2E9E-6509-22EEDCF22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54B63F-4A75-535B-0160-27D396752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D3F06-0A18-415C-960C-EF85247D6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92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2.png"  /><Relationship Id="rId4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5.png"  /><Relationship Id="rId4" Type="http://schemas.openxmlformats.org/officeDocument/2006/relationships/image" Target="../media/image1.png"  /><Relationship Id="rId5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2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4.png"  /><Relationship Id="rId6" Type="http://schemas.openxmlformats.org/officeDocument/2006/relationships/image" Target="../media/image2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Relationship Id="rId6" Type="http://schemas.openxmlformats.org/officeDocument/2006/relationships/image" Target="../media/image2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30.png"  /><Relationship Id="rId4" Type="http://schemas.openxmlformats.org/officeDocument/2006/relationships/image" Target="../media/image31.png"  /><Relationship Id="rId5" Type="http://schemas.openxmlformats.org/officeDocument/2006/relationships/image" Target="../media/image32.png"  /><Relationship Id="rId6" Type="http://schemas.openxmlformats.org/officeDocument/2006/relationships/image" Target="../media/image3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34.png"  /><Relationship Id="rId4" Type="http://schemas.openxmlformats.org/officeDocument/2006/relationships/image" Target="../media/image35.png"  /><Relationship Id="rId5" Type="http://schemas.openxmlformats.org/officeDocument/2006/relationships/image" Target="../media/image3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6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37.png"  /><Relationship Id="rId4" Type="http://schemas.openxmlformats.org/officeDocument/2006/relationships/image" Target="../media/image3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3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39.png"  /><Relationship Id="rId4" Type="http://schemas.openxmlformats.org/officeDocument/2006/relationships/image" Target="../media/image3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40.png"  /><Relationship Id="rId4" Type="http://schemas.openxmlformats.org/officeDocument/2006/relationships/image" Target="../media/image40.png"  /><Relationship Id="rId5" Type="http://schemas.openxmlformats.org/officeDocument/2006/relationships/image" Target="../media/image40.png"  /><Relationship Id="rId6" Type="http://schemas.openxmlformats.org/officeDocument/2006/relationships/image" Target="../media/image4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41.png"  /><Relationship Id="rId4" Type="http://schemas.openxmlformats.org/officeDocument/2006/relationships/image" Target="../media/image41.png"  /><Relationship Id="rId5" Type="http://schemas.openxmlformats.org/officeDocument/2006/relationships/image" Target="../media/image41.png"  /><Relationship Id="rId6" Type="http://schemas.openxmlformats.org/officeDocument/2006/relationships/image" Target="../media/image4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592" y="2781577"/>
            <a:ext cx="75345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spc="-150" dirty="0" err="1">
                <a:solidFill>
                  <a:srgbClr val="FF6600"/>
                </a:solidFill>
                <a:latin typeface="+mj-ea"/>
                <a:ea typeface="+mj-ea"/>
              </a:rPr>
              <a:t>FedAS</a:t>
            </a:r>
            <a:r>
              <a:rPr lang="en-US" altLang="ko-KR" sz="4400" b="1" spc="-150" dirty="0">
                <a:solidFill>
                  <a:schemeClr val="bg1"/>
                </a:solidFill>
                <a:latin typeface="+mj-ea"/>
                <a:ea typeface="+mj-ea"/>
              </a:rPr>
              <a:t>: </a:t>
            </a:r>
            <a:r>
              <a:rPr lang="ko-KR" altLang="en-US" sz="4400" b="1" spc="-150" dirty="0">
                <a:solidFill>
                  <a:schemeClr val="bg1"/>
                </a:solidFill>
                <a:latin typeface="+mj-ea"/>
                <a:ea typeface="+mj-ea"/>
              </a:rPr>
              <a:t>개인화 연합 학습의</a:t>
            </a:r>
            <a:endParaRPr lang="en-US" altLang="ko-KR" sz="4400" b="1" spc="-15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4400" b="1" spc="-150" dirty="0">
                <a:solidFill>
                  <a:schemeClr val="bg1"/>
                </a:solidFill>
                <a:latin typeface="+mj-ea"/>
                <a:ea typeface="+mj-ea"/>
              </a:rPr>
              <a:t>불일치 문제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1043" y="4725794"/>
            <a:ext cx="27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600" b="1" dirty="0">
                <a:solidFill>
                  <a:schemeClr val="bg1"/>
                </a:solidFill>
                <a:latin typeface="+mj-ea"/>
                <a:ea typeface="+mj-ea"/>
              </a:rPr>
              <a:t>20222048 </a:t>
            </a:r>
            <a:r>
              <a:rPr lang="ko-KR" altLang="en-US" sz="1600" b="1" dirty="0">
                <a:solidFill>
                  <a:schemeClr val="bg1"/>
                </a:solidFill>
                <a:latin typeface="+mj-ea"/>
                <a:ea typeface="+mj-ea"/>
              </a:rPr>
              <a:t>조유진</a:t>
            </a:r>
            <a:endParaRPr lang="en-US" altLang="ko-KR" sz="1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dist"/>
            <a:r>
              <a:rPr lang="en-US" altLang="ko-KR" sz="1600" b="1" dirty="0">
                <a:solidFill>
                  <a:schemeClr val="bg1"/>
                </a:solidFill>
                <a:latin typeface="+mj-ea"/>
                <a:ea typeface="+mj-ea"/>
              </a:rPr>
              <a:t>20222025 </a:t>
            </a:r>
            <a:r>
              <a:rPr lang="ko-KR" altLang="en-US" sz="1600" b="1" dirty="0" err="1">
                <a:solidFill>
                  <a:schemeClr val="bg1"/>
                </a:solidFill>
                <a:latin typeface="+mj-ea"/>
                <a:ea typeface="+mj-ea"/>
              </a:rPr>
              <a:t>박한나</a:t>
            </a:r>
            <a:endParaRPr lang="en-US" altLang="ko-KR" sz="1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dist"/>
            <a:r>
              <a:rPr lang="en-US" altLang="ko-KR" sz="1600" b="1" dirty="0">
                <a:solidFill>
                  <a:schemeClr val="bg1"/>
                </a:solidFill>
                <a:latin typeface="+mj-ea"/>
                <a:ea typeface="+mj-ea"/>
              </a:rPr>
              <a:t>20232033 </a:t>
            </a:r>
            <a:r>
              <a:rPr lang="ko-KR" altLang="en-US" sz="1600" b="1" dirty="0" err="1">
                <a:solidFill>
                  <a:schemeClr val="bg1"/>
                </a:solidFill>
                <a:latin typeface="+mj-ea"/>
                <a:ea typeface="+mj-ea"/>
              </a:rPr>
              <a:t>이다영</a:t>
            </a:r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67763" y="2277521"/>
            <a:ext cx="42564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사물인터넷</a:t>
            </a:r>
            <a:r>
              <a:rPr lang="en-US" altLang="ko-KR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_TEAM</a:t>
            </a:r>
            <a:r>
              <a:rPr lang="ko-KR" altLang="en-US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4</a:t>
            </a:r>
            <a:endParaRPr lang="ko-KR" altLang="en-US" b="1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3"/>
          <a:srcRect l="1563"/>
          <a:stretch>
            <a:fillRect/>
          </a:stretch>
        </p:blipFill>
        <p:spPr>
          <a:xfrm>
            <a:off x="708133" y="2417026"/>
            <a:ext cx="5017897" cy="19282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4"/>
          <a:srcRect l="1563"/>
          <a:stretch>
            <a:fillRect/>
          </a:stretch>
        </p:blipFill>
        <p:spPr>
          <a:xfrm>
            <a:off x="6808585" y="2353711"/>
            <a:ext cx="4560265" cy="295874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3A60EA55-4674-522B-1772-1C796308AFF6}"/>
              </a:ext>
            </a:extLst>
          </p:cNvPr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2400" b="1" dirty="0">
                <a:solidFill>
                  <a:srgbClr val="FF6B35"/>
                </a:solidFill>
                <a:latin typeface="+mn-ea"/>
                <a:cs typeface="Arial" pitchFamily="34" charset="-120"/>
              </a:rPr>
              <a:t>연구 배경</a:t>
            </a:r>
            <a:endParaRPr lang="en-US" sz="2400" dirty="0">
              <a:latin typeface="+mn-ea"/>
            </a:endParaRPr>
          </a:p>
        </p:txBody>
      </p:sp>
      <p:sp>
        <p:nvSpPr>
          <p:cNvPr id="18" name="Text 2"/>
          <p:cNvSpPr/>
          <p:nvPr/>
        </p:nvSpPr>
        <p:spPr>
          <a:xfrm>
            <a:off x="824113" y="2100107"/>
            <a:ext cx="4924068" cy="2393203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lvl="0" algn="l">
              <a:lnSpc>
                <a:spcPts val="1800"/>
              </a:lnSpc>
              <a:buSzPct val="100000"/>
              <a:defRPr/>
            </a:pPr>
            <a:r>
              <a:rPr lang="ko-KR" altLang="en-US" b="1">
                <a:solidFill>
                  <a:srgbClr val="f0f0f0"/>
                </a:solidFill>
                <a:latin typeface="+mn-ea"/>
                <a:cs typeface="Arial"/>
              </a:rPr>
              <a:t>연합 학습</a:t>
            </a:r>
            <a:r>
              <a:rPr lang="en-US" altLang="ko-KR" b="1">
                <a:solidFill>
                  <a:srgbClr val="f0f0f0"/>
                </a:solidFill>
                <a:latin typeface="+mn-ea"/>
                <a:cs typeface="Arial"/>
              </a:rPr>
              <a:t>(FL)</a:t>
            </a:r>
            <a:r>
              <a:rPr lang="ko-KR" altLang="en-US" b="1">
                <a:solidFill>
                  <a:srgbClr val="f0f0f0"/>
                </a:solidFill>
                <a:latin typeface="+mn-ea"/>
                <a:cs typeface="Arial"/>
              </a:rPr>
              <a:t>의 등장 배경과 특징</a:t>
            </a:r>
            <a:endParaRPr lang="ko-KR" altLang="en-US" b="1">
              <a:solidFill>
                <a:srgbClr val="f0f0f0"/>
              </a:solidFill>
              <a:latin typeface="+mn-ea"/>
              <a:cs typeface="Arial"/>
            </a:endParaRPr>
          </a:p>
          <a:p>
            <a:pPr lvl="0" algn="l">
              <a:lnSpc>
                <a:spcPts val="1800"/>
              </a:lnSpc>
              <a:buSzPct val="100000"/>
              <a:defRPr/>
            </a:pPr>
            <a:endParaRPr lang="ko-KR" altLang="en-US" b="1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개인정보 보호와 분산 데이터 처리의 필요성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중앙집중식 모델 학습의 한계 극복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FedAvg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알고리즘을 통한 통신 효율성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클라이언트 데이터의 비독립 동분산</a:t>
            </a: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(Non-IID)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문제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926092" y="1999536"/>
            <a:ext cx="2997220" cy="229921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en-US" altLang="ko-KR" b="1">
                <a:solidFill>
                  <a:srgbClr val="f0f0f0"/>
                </a:solidFill>
                <a:latin typeface="+mn-ea"/>
                <a:cs typeface="Arial"/>
              </a:rPr>
              <a:t>Non-IID</a:t>
            </a:r>
            <a:r>
              <a:rPr lang="ko-KR" altLang="en-US" b="1">
                <a:solidFill>
                  <a:srgbClr val="f0f0f0"/>
                </a:solidFill>
                <a:latin typeface="+mn-ea"/>
                <a:cs typeface="Arial"/>
              </a:rPr>
              <a:t> 문제</a:t>
            </a:r>
            <a:endParaRPr lang="ko-KR" altLang="en-US" b="1">
              <a:solidFill>
                <a:srgbClr val="f0f0f0"/>
              </a:solidFill>
              <a:latin typeface="+mn-ea"/>
              <a:cs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972567" y="2482551"/>
            <a:ext cx="4509501" cy="2787343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buSzPct val="100000"/>
              <a:buFont typeface="Arial"/>
              <a:buChar char="•"/>
              <a:defRPr/>
            </a:pP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클라이언트 간 데이터 편향성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buSzPct val="100000"/>
              <a:buFont typeface="Arial"/>
              <a:buChar char="•"/>
              <a:defRPr/>
            </a:pP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buSzPct val="100000"/>
              <a:buFont typeface="Arial"/>
              <a:buChar char="•"/>
              <a:defRPr/>
            </a:pP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데이터 분포의 불균형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buSzPct val="100000"/>
              <a:buFont typeface="Arial"/>
              <a:buChar char="•"/>
              <a:defRPr/>
            </a:pP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buSzPct val="100000"/>
              <a:buFont typeface="Arial"/>
              <a:buChar char="•"/>
              <a:defRPr/>
            </a:pP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모델 수렴의 어려움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buSzPct val="100000"/>
              <a:buFont typeface="Arial"/>
              <a:buChar char="•"/>
              <a:defRPr/>
            </a:pP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buSzPct val="100000"/>
              <a:buFont typeface="Arial"/>
              <a:buChar char="•"/>
              <a:defRPr/>
            </a:pP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정확도와 효율성의 트레이드오프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buSzPct val="100000"/>
              <a:buFont typeface="Arial"/>
              <a:buChar char="•"/>
              <a:defRPr/>
            </a:pP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buSzPct val="100000"/>
              <a:buFont typeface="Arial"/>
              <a:buChar char="•"/>
              <a:defRPr/>
            </a:pP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평균 기반 방식의 </a:t>
            </a: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FedAvg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의 성능 저하 문제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0" lvl="0" indent="0" algn="l">
              <a:buSzPct val="100000"/>
              <a:buFont typeface="Arial"/>
              <a:buNone/>
              <a:defRPr/>
            </a:pPr>
            <a:endParaRPr lang="en-US" altLang="ko-KR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이로 인해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연합 학습</a:t>
            </a: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(FL) 시스템의 성능 저하</a:t>
            </a:r>
            <a:endParaRPr lang="en-US" altLang="ko-KR" sz="1600">
              <a:solidFill>
                <a:srgbClr val="f0f0f0"/>
              </a:solidFill>
              <a:latin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976348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3"/>
          <a:srcRect l="1563"/>
          <a:stretch>
            <a:fillRect/>
          </a:stretch>
        </p:blipFill>
        <p:spPr>
          <a:xfrm>
            <a:off x="252207" y="1052306"/>
            <a:ext cx="7524682" cy="213273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4"/>
          <a:srcRect l="1563"/>
          <a:stretch>
            <a:fillRect/>
          </a:stretch>
        </p:blipFill>
        <p:spPr>
          <a:xfrm>
            <a:off x="4985148" y="4072513"/>
            <a:ext cx="6259909" cy="1877983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3600"/>
              </a:lnSpc>
              <a:buNone/>
              <a:defRPr/>
            </a:pPr>
            <a:r>
              <a:rPr lang="en-US" sz="2400" b="1">
                <a:solidFill>
                  <a:srgbClr val="ff6b35"/>
                </a:solidFill>
                <a:latin typeface="+mn-ea"/>
                <a:cs typeface="Arial"/>
              </a:rPr>
              <a:t>개인화 연합 학습</a:t>
            </a:r>
            <a:r>
              <a:rPr lang="en-US" altLang="ko-KR" sz="2400" b="1">
                <a:solidFill>
                  <a:srgbClr val="ff6b35"/>
                </a:solidFill>
                <a:latin typeface="+mn-ea"/>
                <a:cs typeface="Arial"/>
              </a:rPr>
              <a:t>(PFL)</a:t>
            </a:r>
            <a:endParaRPr lang="en-US" altLang="ko-KR" sz="2400" b="1">
              <a:solidFill>
                <a:srgbClr val="ff6b35"/>
              </a:solidFill>
              <a:latin typeface="+mn-ea"/>
              <a:cs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490333" y="1242805"/>
            <a:ext cx="3524074" cy="2667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en-US" b="1">
                <a:solidFill>
                  <a:srgbClr val="f0f0f0"/>
                </a:solidFill>
                <a:latin typeface="+mn-ea"/>
                <a:cs typeface="Arial"/>
              </a:rPr>
              <a:t>개인화 연합 학습 (PFL)</a:t>
            </a:r>
            <a:endParaRPr lang="ko-KR" altLang="en-US" b="1">
              <a:solidFill>
                <a:srgbClr val="f0f0f0"/>
              </a:solidFill>
              <a:latin typeface="+mn-ea"/>
              <a:cs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464139" y="1588562"/>
            <a:ext cx="8484657" cy="2275982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sz="1600">
                <a:solidFill>
                  <a:srgbClr val="f0f0f0"/>
                </a:solidFill>
                <a:latin typeface="+mn-ea"/>
                <a:cs typeface="Arial"/>
              </a:rPr>
              <a:t>데이터 이질성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 문제를</a:t>
            </a:r>
            <a:r>
              <a:rPr lang="en-US" sz="1600">
                <a:solidFill>
                  <a:srgbClr val="f0f0f0"/>
                </a:solidFill>
                <a:latin typeface="+mn-ea"/>
                <a:cs typeface="Arial"/>
              </a:rPr>
              <a:t> 해결하기 위해 등장</a:t>
            </a:r>
            <a:endParaRPr 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각 클라이언트의 </a:t>
            </a:r>
            <a:r>
              <a:rPr lang="en-US" altLang="ko-KR" sz="1600" b="1">
                <a:solidFill>
                  <a:schemeClr val="bg1"/>
                </a:solidFill>
                <a:latin typeface="+mn-ea"/>
                <a:cs typeface="Arial"/>
              </a:rPr>
              <a:t>고유한 데이터 분포에 맞춘 맞춤형 모델</a:t>
            </a:r>
            <a:r>
              <a:rPr lang="en-US" altLang="ko-KR" sz="1600">
                <a:solidFill>
                  <a:schemeClr val="bg1"/>
                </a:solidFill>
                <a:latin typeface="+mn-ea"/>
                <a:cs typeface="Arial"/>
              </a:rPr>
              <a:t> </a:t>
            </a: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제공</a:t>
            </a:r>
            <a:endParaRPr lang="en-US" altLang="ko-KR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공유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파라미터</a:t>
            </a: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와 개인화된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파라미터</a:t>
            </a: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로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분리하는 </a:t>
            </a:r>
            <a:r>
              <a:rPr lang="en-US" sz="1600">
                <a:solidFill>
                  <a:srgbClr val="f0f0f0"/>
                </a:solidFill>
                <a:latin typeface="+mn-ea"/>
                <a:cs typeface="Arial"/>
              </a:rPr>
              <a:t>parameter decoupling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기법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sz="1600">
                <a:solidFill>
                  <a:srgbClr val="f0f0f0"/>
                </a:solidFill>
                <a:latin typeface="+mn-ea"/>
                <a:cs typeface="Arial"/>
              </a:rPr>
              <a:t>backbone&amp; head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구조</a:t>
            </a:r>
            <a:endParaRPr lang="en-US" altLang="ko-KR" sz="1600">
              <a:solidFill>
                <a:srgbClr val="f0f0f0"/>
              </a:solidFill>
              <a:latin typeface="+mn-ea"/>
              <a:cs typeface="Arial"/>
            </a:endParaRPr>
          </a:p>
          <a:p>
            <a:pPr lvl="0">
              <a:lnSpc>
                <a:spcPct val="150000"/>
              </a:lnSpc>
              <a:buSzPct val="100000"/>
              <a:defRPr/>
            </a:pPr>
            <a:endParaRPr lang="en-US" altLang="ko-KR" sz="1600">
              <a:latin typeface="+mn-ea"/>
            </a:endParaRPr>
          </a:p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sz="1600">
              <a:latin typeface="+mn-ea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5138208" y="4166650"/>
            <a:ext cx="4289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ko-KR" altLang="en-US" b="1">
                <a:solidFill>
                  <a:srgbClr val="f0f0f0"/>
                </a:solidFill>
                <a:latin typeface="+mn-ea"/>
                <a:cs typeface="Arial"/>
              </a:rPr>
              <a:t>개인화 연합 학습</a:t>
            </a:r>
            <a:r>
              <a:rPr lang="en-US" altLang="ko-KR" b="1">
                <a:solidFill>
                  <a:srgbClr val="f0f0f0"/>
                </a:solidFill>
                <a:latin typeface="+mn-ea"/>
                <a:cs typeface="Arial"/>
              </a:rPr>
              <a:t>(</a:t>
            </a:r>
            <a:r>
              <a:rPr lang="en-US" b="1">
                <a:solidFill>
                  <a:srgbClr val="f0f0f0"/>
                </a:solidFill>
                <a:latin typeface="+mn-ea"/>
                <a:cs typeface="Arial"/>
              </a:rPr>
              <a:t>PFL</a:t>
            </a:r>
            <a:r>
              <a:rPr lang="en-US" altLang="ko-KR" b="1">
                <a:solidFill>
                  <a:srgbClr val="f0f0f0"/>
                </a:solidFill>
                <a:latin typeface="+mn-ea"/>
                <a:cs typeface="Arial"/>
              </a:rPr>
              <a:t>)</a:t>
            </a:r>
            <a:r>
              <a:rPr lang="en-US" b="1">
                <a:solidFill>
                  <a:srgbClr val="f0f0f0"/>
                </a:solidFill>
                <a:latin typeface="+mn-ea"/>
                <a:cs typeface="Arial"/>
              </a:rPr>
              <a:t>의 이점</a:t>
            </a:r>
            <a:endParaRPr lang="en-US" b="1">
              <a:solidFill>
                <a:srgbClr val="f0f0f0"/>
              </a:solidFill>
              <a:latin typeface="+mn-ea"/>
              <a:cs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5281083" y="4647456"/>
            <a:ext cx="7283380" cy="1890123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sz="1600">
                <a:solidFill>
                  <a:srgbClr val="f0f0f0"/>
                </a:solidFill>
                <a:latin typeface="+mn-ea"/>
                <a:cs typeface="Arial"/>
              </a:rPr>
              <a:t>개인화된 모델이 클라이언트의 로컬 데이터에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더 </a:t>
            </a:r>
            <a:r>
              <a:rPr lang="en-US" sz="1600">
                <a:solidFill>
                  <a:srgbClr val="f0f0f0"/>
                </a:solidFill>
                <a:latin typeface="+mn-ea"/>
                <a:cs typeface="Arial"/>
              </a:rPr>
              <a:t>적합</a:t>
            </a:r>
            <a:endParaRPr 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+mn-ea"/>
                <a:cs typeface="Arial"/>
              </a:rPr>
              <a:t>모델의 일반화 능력 향상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sz="1600">
                <a:solidFill>
                  <a:srgbClr val="f0f0f0"/>
                </a:solidFill>
                <a:latin typeface="+mn-ea"/>
                <a:cs typeface="Arial"/>
              </a:rPr>
              <a:t>intra-client &amp; inter-client inconsistency </a:t>
            </a:r>
            <a:r>
              <a:rPr lang="ko-KR" altLang="en-US" sz="1600">
                <a:solidFill>
                  <a:srgbClr val="f0f0f0"/>
                </a:solidFill>
                <a:latin typeface="+mn-ea"/>
                <a:cs typeface="Arial"/>
              </a:rPr>
              <a:t>문제 일부 완화</a:t>
            </a:r>
            <a:endParaRPr lang="ko-KR" altLang="en-US" sz="16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altLang="ko-KR" sz="1600">
              <a:latin typeface="+mn-ea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sz="1600">
              <a:latin typeface="+mn-ea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sz="160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1" descr="preencoded.png"/>
          <p:cNvPicPr>
            <a:picLocks noChangeAspect="1"/>
          </p:cNvPicPr>
          <p:nvPr/>
        </p:nvPicPr>
        <p:blipFill rotWithShape="1">
          <a:blip r:embed="rId3"/>
          <a:srcRect l="2418"/>
          <a:stretch>
            <a:fillRect/>
          </a:stretch>
        </p:blipFill>
        <p:spPr>
          <a:xfrm>
            <a:off x="413385" y="995577"/>
            <a:ext cx="5535930" cy="3326258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93812" y="231536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3600"/>
              </a:lnSpc>
              <a:buNone/>
              <a:defRPr/>
            </a:pPr>
            <a:r>
              <a:rPr lang="en-US" sz="2400" b="1">
                <a:solidFill>
                  <a:srgbClr val="ff6b35"/>
                </a:solidFill>
                <a:latin typeface="+mn-ea"/>
                <a:cs typeface="Arial"/>
              </a:rPr>
              <a:t>핵심 문제 정의</a:t>
            </a:r>
            <a:r>
              <a:rPr lang="ko-KR" altLang="en-US" sz="2400" b="1">
                <a:solidFill>
                  <a:srgbClr val="ff6b35"/>
                </a:solidFill>
                <a:latin typeface="+mn-ea"/>
                <a:cs typeface="Arial"/>
              </a:rPr>
              <a:t> </a:t>
            </a:r>
            <a:r>
              <a:rPr lang="en-US" altLang="ko-KR" sz="2400" b="1">
                <a:solidFill>
                  <a:srgbClr val="ff6b35"/>
                </a:solidFill>
                <a:latin typeface="+mn-ea"/>
                <a:cs typeface="Arial"/>
              </a:rPr>
              <a:t>1</a:t>
            </a:r>
            <a:endParaRPr lang="en-US" altLang="ko-KR" sz="2400" b="1">
              <a:solidFill>
                <a:srgbClr val="ff6b35"/>
              </a:solidFill>
              <a:latin typeface="+mn-ea"/>
              <a:cs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92455" y="1109879"/>
            <a:ext cx="2895719" cy="3048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400"/>
              </a:lnSpc>
              <a:buNone/>
              <a:defRPr/>
            </a:pPr>
            <a:r>
              <a:rPr lang="en-US" b="1">
                <a:solidFill>
                  <a:srgbClr val="f0f0f0"/>
                </a:solidFill>
                <a:latin typeface="+mn-ea"/>
                <a:cs typeface="Arial"/>
              </a:rPr>
              <a:t>클라이언트 내부 불일치</a:t>
            </a:r>
            <a:endParaRPr lang="en-US">
              <a:latin typeface="+mn-ea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92455" y="1528906"/>
            <a:ext cx="5319236" cy="5334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lvl="0">
              <a:lnSpc>
                <a:spcPts val="2100"/>
              </a:lnSpc>
              <a:defRPr/>
            </a:pPr>
            <a:r>
              <a:rPr lang="en-US" sz="1400" b="1">
                <a:solidFill>
                  <a:srgbClr val="ff6b35"/>
                </a:solidFill>
                <a:latin typeface="+mn-ea"/>
                <a:cs typeface="Arial"/>
              </a:rPr>
              <a:t>개인화된 </a:t>
            </a:r>
            <a:r>
              <a:rPr lang="ko-KR" altLang="en-US" sz="1400" b="1">
                <a:solidFill>
                  <a:srgbClr val="ff6b35"/>
                </a:solidFill>
                <a:latin typeface="+mn-ea"/>
                <a:cs typeface="Arial"/>
              </a:rPr>
              <a:t>파라미터</a:t>
            </a:r>
            <a:r>
              <a:rPr lang="en-US" sz="1400">
                <a:solidFill>
                  <a:srgbClr val="f0f0f0"/>
                </a:solidFill>
                <a:latin typeface="+mn-ea"/>
                <a:cs typeface="Arial"/>
              </a:rPr>
              <a:t>와 </a:t>
            </a:r>
            <a:r>
              <a:rPr lang="en-US" sz="1400" b="1">
                <a:solidFill>
                  <a:srgbClr val="ff6b35"/>
                </a:solidFill>
                <a:latin typeface="+mn-ea"/>
                <a:cs typeface="Arial"/>
              </a:rPr>
              <a:t>공유 </a:t>
            </a:r>
            <a:r>
              <a:rPr lang="ko-KR" altLang="en-US" sz="1400" b="1">
                <a:solidFill>
                  <a:srgbClr val="ff6b35"/>
                </a:solidFill>
                <a:latin typeface="+mn-ea"/>
                <a:cs typeface="Arial"/>
              </a:rPr>
              <a:t>파라미터</a:t>
            </a:r>
            <a:r>
              <a:rPr lang="en-US" sz="1400">
                <a:solidFill>
                  <a:srgbClr val="f0f0f0"/>
                </a:solidFill>
                <a:latin typeface="+mn-ea"/>
                <a:cs typeface="Arial"/>
              </a:rPr>
              <a:t> 간의 비동기적 업데이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</a:rPr>
              <a:t>트 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전략으로 인해 발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</a:rPr>
              <a:t>생</a:t>
            </a:r>
            <a:endParaRPr lang="ko-KR" altLang="en-US" sz="1400">
              <a:solidFill>
                <a:srgbClr val="f0f0f0"/>
              </a:solidFill>
              <a:latin typeface="+mn-ea"/>
              <a:cs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802005" y="2293674"/>
            <a:ext cx="5147310" cy="1949857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>
              <a:lnSpc>
                <a:spcPts val="1800"/>
              </a:lnSpc>
              <a:buFont typeface="Wingdings"/>
              <a:buChar char="à"/>
              <a:defRPr/>
            </a:pPr>
            <a:r>
              <a:rPr lang="en-US" sz="1400">
                <a:solidFill>
                  <a:srgbClr val="f0f0f0"/>
                </a:solidFill>
                <a:latin typeface="+mn-ea"/>
                <a:cs typeface="Arial"/>
              </a:rPr>
              <a:t> 클라이언트는 전역 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</a:rPr>
              <a:t>파라미터</a:t>
            </a:r>
            <a:r>
              <a:rPr lang="en-US" sz="1400">
                <a:solidFill>
                  <a:srgbClr val="f0f0f0"/>
                </a:solidFill>
                <a:latin typeface="+mn-ea"/>
                <a:cs typeface="Arial"/>
              </a:rPr>
              <a:t>(공유 부분)로 모델을 초기화하지만, 개인화된 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</a:rPr>
              <a:t>파라미터</a:t>
            </a:r>
            <a:r>
              <a:rPr lang="en-US" sz="1400">
                <a:solidFill>
                  <a:srgbClr val="f0f0f0"/>
                </a:solidFill>
                <a:latin typeface="+mn-ea"/>
                <a:cs typeface="Arial"/>
              </a:rPr>
              <a:t>는 변경하지 않고 유지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</a:rPr>
              <a:t>함</a:t>
            </a:r>
            <a:endParaRPr lang="ko-KR" altLang="en-US" sz="1400">
              <a:solidFill>
                <a:srgbClr val="f0f0f0"/>
              </a:solidFill>
              <a:latin typeface="+mn-ea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endParaRPr lang="en-US" sz="14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lnSpc>
                <a:spcPts val="1800"/>
              </a:lnSpc>
              <a:buFont typeface="Wingdings"/>
              <a:buChar char="à"/>
              <a:defRPr/>
            </a:pP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공유 파라미터는 전역 지식을 반영</a:t>
            </a:r>
            <a:r>
              <a:rPr lang="en-US" altLang="ko-KR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,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 개인화 파라미터는 로컬 정보만 보유</a:t>
            </a:r>
            <a:endParaRPr lang="ko-KR" altLang="en-US" sz="1400">
              <a:solidFill>
                <a:srgbClr val="f0f0f0"/>
              </a:solidFill>
              <a:latin typeface="+mn-ea"/>
              <a:cs typeface="Arial"/>
              <a:sym typeface="Wingdings"/>
            </a:endParaRPr>
          </a:p>
          <a:p>
            <a:pPr marL="171450" lvl="0" indent="-171450">
              <a:lnSpc>
                <a:spcPts val="1800"/>
              </a:lnSpc>
              <a:buFont typeface="Wingdings"/>
              <a:buChar char="à"/>
              <a:defRPr/>
            </a:pPr>
            <a:endParaRPr lang="en-US" altLang="ko-KR" sz="1400">
              <a:solidFill>
                <a:srgbClr val="f0f0f0"/>
              </a:solidFill>
              <a:latin typeface="+mn-ea"/>
              <a:cs typeface="Arial"/>
              <a:sym typeface="Wingdings"/>
            </a:endParaRPr>
          </a:p>
          <a:p>
            <a:pPr marL="171450" lvl="0" indent="-171450">
              <a:lnSpc>
                <a:spcPts val="1800"/>
              </a:lnSpc>
              <a:buFont typeface="Wingdings"/>
              <a:buChar char="à"/>
              <a:defRPr/>
            </a:pPr>
            <a:r>
              <a:rPr lang="en-US" altLang="ko-KR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 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지식</a:t>
            </a:r>
            <a:r>
              <a:rPr lang="en-US" altLang="ko-KR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, 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데이터 처리 방식</a:t>
            </a:r>
            <a:r>
              <a:rPr lang="en-US" altLang="ko-KR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, </a:t>
            </a:r>
            <a:r>
              <a:rPr lang="ko-KR" altLang="en-US" sz="1400">
                <a:solidFill>
                  <a:srgbClr val="f0f0f0"/>
                </a:solidFill>
                <a:latin typeface="+mn-ea"/>
                <a:cs typeface="Arial"/>
                <a:sym typeface="Wingdings"/>
              </a:rPr>
              <a:t>최적화 목표의 차이로 인해 불일치와 충돌 발생</a:t>
            </a:r>
            <a:endParaRPr lang="ko-KR" altLang="en-US" sz="1400">
              <a:solidFill>
                <a:srgbClr val="f0f0f0"/>
              </a:solidFill>
              <a:latin typeface="+mn-ea"/>
              <a:cs typeface="Arial"/>
              <a:sym typeface="Wingdings"/>
            </a:endParaRPr>
          </a:p>
          <a:p>
            <a:pPr marL="171450" lvl="0" indent="-171450">
              <a:lnSpc>
                <a:spcPts val="1800"/>
              </a:lnSpc>
              <a:buFont typeface="Wingdings"/>
              <a:buChar char="à"/>
              <a:defRPr/>
            </a:pPr>
            <a:endParaRPr lang="en-US" sz="1400">
              <a:latin typeface="+mn-ea"/>
            </a:endParaRPr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 rotWithShape="1">
          <a:blip r:embed="rId4"/>
          <a:srcRect l="1980"/>
          <a:stretch>
            <a:fillRect/>
          </a:stretch>
        </p:blipFill>
        <p:spPr>
          <a:xfrm>
            <a:off x="413385" y="4432740"/>
            <a:ext cx="5535930" cy="1194319"/>
          </a:xfrm>
          <a:prstGeom prst="rect">
            <a:avLst/>
          </a:prstGeom>
        </p:spPr>
      </p:pic>
      <p:sp>
        <p:nvSpPr>
          <p:cNvPr id="34" name="Text 6"/>
          <p:cNvSpPr/>
          <p:nvPr/>
        </p:nvSpPr>
        <p:spPr>
          <a:xfrm>
            <a:off x="640675" y="4552872"/>
            <a:ext cx="1832361" cy="2667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en-US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부정적 영향</a:t>
            </a:r>
            <a:endParaRPr lang="en-US"/>
          </a:p>
        </p:txBody>
      </p:sp>
      <p:sp>
        <p:nvSpPr>
          <p:cNvPr id="35" name="Text 7"/>
          <p:cNvSpPr/>
          <p:nvPr/>
        </p:nvSpPr>
        <p:spPr>
          <a:xfrm>
            <a:off x="631675" y="4819572"/>
            <a:ext cx="5279801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공유 매개변수가 전역 지식으로 완전히 대체될 경우, 로컬 학습 정보 손실</a:t>
            </a:r>
            <a:endParaRPr 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ko-KR" altLang="en-US" sz="1400">
                <a:solidFill>
                  <a:srgbClr val="f0f0f0"/>
                </a:solidFill>
                <a:latin typeface="맑은 고딕"/>
                <a:cs typeface="Arial"/>
              </a:rPr>
              <a:t>개인화된 모델의 일반화 능력과 효율성 저하</a:t>
            </a:r>
            <a:endParaRPr lang="en-US" sz="1400"/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5"/>
          <a:srcRect b="60672"/>
          <a:stretch>
            <a:fillRect/>
          </a:stretch>
        </p:blipFill>
        <p:spPr>
          <a:xfrm>
            <a:off x="6508195" y="989201"/>
            <a:ext cx="5149430" cy="26364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rcRect t="38666"/>
          <a:stretch>
            <a:fillRect/>
          </a:stretch>
        </p:blipFill>
        <p:spPr>
          <a:xfrm>
            <a:off x="7377081" y="1037542"/>
            <a:ext cx="4136547" cy="3302946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5E34A3DB-102B-D997-B594-6975B8BF0B3F}"/>
              </a:ext>
            </a:extLst>
          </p:cNvPr>
          <p:cNvSpPr/>
          <p:nvPr/>
        </p:nvSpPr>
        <p:spPr>
          <a:xfrm>
            <a:off x="8001000" y="6921759"/>
            <a:ext cx="35688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클라이언트 간 불일치 (Inter-client)</a:t>
            </a:r>
            <a:endParaRPr lang="en-US" sz="16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 rotWithShape="1">
          <a:blip r:embed="rId4"/>
          <a:srcRect l="1252"/>
          <a:stretch>
            <a:fillRect/>
          </a:stretch>
        </p:blipFill>
        <p:spPr>
          <a:xfrm>
            <a:off x="235289" y="909687"/>
            <a:ext cx="6619464" cy="2934673"/>
          </a:xfrm>
          <a:prstGeom prst="rect">
            <a:avLst/>
          </a:prstGeom>
        </p:spPr>
      </p:pic>
      <p:sp>
        <p:nvSpPr>
          <p:cNvPr id="36" name="Text 6"/>
          <p:cNvSpPr/>
          <p:nvPr/>
        </p:nvSpPr>
        <p:spPr>
          <a:xfrm>
            <a:off x="319109" y="1053224"/>
            <a:ext cx="2621399" cy="3048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400"/>
              </a:lnSpc>
              <a:buNone/>
              <a:defRPr/>
            </a:pPr>
            <a:r>
              <a:rPr lang="en-US" b="1">
                <a:solidFill>
                  <a:srgbClr val="f0f0f0"/>
                </a:solidFill>
                <a:latin typeface="+mn-ea"/>
                <a:cs typeface="Arial"/>
              </a:rPr>
              <a:t>클라이언트 간 불일치</a:t>
            </a:r>
            <a:endParaRPr lang="en-US">
              <a:latin typeface="+mn-ea"/>
            </a:endParaRPr>
          </a:p>
        </p:txBody>
      </p:sp>
      <p:sp>
        <p:nvSpPr>
          <p:cNvPr id="37" name="Text 7"/>
          <p:cNvSpPr/>
          <p:nvPr/>
        </p:nvSpPr>
        <p:spPr>
          <a:xfrm>
            <a:off x="319109" y="1441612"/>
            <a:ext cx="5356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en-US" sz="1400" b="1">
                <a:solidFill>
                  <a:srgbClr val="ff6b35"/>
                </a:solidFill>
                <a:latin typeface="+mn-ea"/>
                <a:cs typeface="Arial"/>
              </a:rPr>
              <a:t>"낙오자(stragglers)"</a:t>
            </a:r>
            <a:r>
              <a:rPr lang="en-US" sz="1400">
                <a:solidFill>
                  <a:srgbClr val="f0f0f0"/>
                </a:solidFill>
                <a:latin typeface="+mn-ea"/>
                <a:cs typeface="Arial"/>
              </a:rPr>
              <a:t>라고 불리는 비활성 클라이언트들로부터 발생</a:t>
            </a:r>
            <a:endParaRPr lang="en-US" sz="1400">
              <a:latin typeface="+mn-ea"/>
            </a:endParaRPr>
          </a:p>
        </p:txBody>
      </p:sp>
      <p:sp>
        <p:nvSpPr>
          <p:cNvPr id="38" name="Text 8"/>
          <p:cNvSpPr/>
          <p:nvPr/>
        </p:nvSpPr>
        <p:spPr>
          <a:xfrm>
            <a:off x="492463" y="1798941"/>
            <a:ext cx="6157171" cy="1966771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>
              <a:lnSpc>
                <a:spcPts val="1800"/>
              </a:lnSpc>
              <a:buFont typeface="Wingdings"/>
              <a:buChar char="à"/>
              <a:defRPr/>
            </a:pPr>
            <a:r>
              <a:rPr lang="en-US" sz="1400">
                <a:solidFill>
                  <a:srgbClr val="f0f0f0"/>
                </a:solidFill>
                <a:latin typeface="+mn-ea"/>
                <a:cs typeface="Arial"/>
              </a:rPr>
              <a:t> 통신 장벽, 계산 능력의 한계 또는 기타 제약으로 인해 로컬 훈련 및 협업학습에 자주 참여하지 못함</a:t>
            </a:r>
            <a:endParaRPr lang="en-US" sz="1400">
              <a:solidFill>
                <a:srgbClr val="f0f0f0"/>
              </a:solidFill>
              <a:latin typeface="+mn-ea"/>
              <a:cs typeface="Arial"/>
            </a:endParaRPr>
          </a:p>
          <a:p>
            <a:pPr marL="0" lvl="0" indent="0">
              <a:lnSpc>
                <a:spcPts val="1800"/>
              </a:lnSpc>
              <a:buNone/>
              <a:defRPr/>
            </a:pPr>
            <a:endParaRPr lang="en-US" sz="1400">
              <a:solidFill>
                <a:srgbClr val="f0f0f0"/>
              </a:solidFill>
              <a:latin typeface="+mn-ea"/>
              <a:cs typeface="Arial"/>
            </a:endParaRPr>
          </a:p>
          <a:p>
            <a:pPr marL="171450" lvl="0" indent="-171450">
              <a:lnSpc>
                <a:spcPts val="1800"/>
              </a:lnSpc>
              <a:buFont typeface="Wingdings"/>
              <a:buChar char="à"/>
              <a:defRPr/>
            </a:pPr>
            <a:r>
              <a:rPr lang="en-US" altLang="ko-KR" sz="1400">
                <a:solidFill>
                  <a:srgbClr val="f0f0f0"/>
                </a:solidFill>
                <a:latin typeface="+mn-ea"/>
                <a:cs typeface="Arial"/>
              </a:rPr>
              <a:t> 낙오자 클라이언트의 개인화된 모델은 덜 훈련되고 덜 최적화되어 학습된 특징의 범위가 제한적</a:t>
            </a:r>
            <a:endParaRPr lang="en-US" altLang="ko-KR" sz="1400">
              <a:solidFill>
                <a:srgbClr val="f0f0f0"/>
              </a:solidFill>
              <a:latin typeface="+mn-ea"/>
              <a:cs typeface="Arial"/>
            </a:endParaRPr>
          </a:p>
          <a:p>
            <a:pPr marL="0" lvl="0" indent="0">
              <a:lnSpc>
                <a:spcPts val="1800"/>
              </a:lnSpc>
              <a:buNone/>
              <a:defRPr/>
            </a:pPr>
            <a:endParaRPr lang="en-US" sz="1400">
              <a:latin typeface="+mn-ea"/>
            </a:endParaRPr>
          </a:p>
          <a:p>
            <a:pPr marL="171450" lvl="0" indent="-171450">
              <a:lnSpc>
                <a:spcPts val="1800"/>
              </a:lnSpc>
              <a:buFont typeface="Wingdings"/>
              <a:buChar char="à"/>
              <a:defRPr/>
            </a:pPr>
            <a:r>
              <a:rPr lang="en-US" altLang="ko-KR" sz="1400">
                <a:solidFill>
                  <a:srgbClr val="f0f0f0"/>
                </a:solidFill>
                <a:latin typeface="+mn-ea"/>
                <a:cs typeface="Arial"/>
              </a:rPr>
              <a:t> 덜 최적화된 낙오자 모델이 서버 집계에 포함될 경우, 불완전한 지식이 전역 모델에 통합되어 다른 활성 클라이언트의 훈련 방해</a:t>
            </a:r>
            <a:endParaRPr lang="en-US" altLang="ko-KR" sz="1400">
              <a:latin typeface="+mn-ea"/>
            </a:endParaRPr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 rotWithShape="1">
          <a:blip r:embed="rId5"/>
          <a:srcRect l="1252"/>
          <a:stretch>
            <a:fillRect/>
          </a:stretch>
        </p:blipFill>
        <p:spPr>
          <a:xfrm>
            <a:off x="245872" y="3942065"/>
            <a:ext cx="6608880" cy="1886101"/>
          </a:xfrm>
          <a:prstGeom prst="rect">
            <a:avLst/>
          </a:prstGeom>
        </p:spPr>
      </p:pic>
      <p:sp>
        <p:nvSpPr>
          <p:cNvPr id="40" name="Text 4"/>
          <p:cNvSpPr/>
          <p:nvPr/>
        </p:nvSpPr>
        <p:spPr>
          <a:xfrm>
            <a:off x="359729" y="4130200"/>
            <a:ext cx="1832361" cy="2667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en-US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부정적 영향</a:t>
            </a:r>
            <a:endParaRPr lang="en-US"/>
          </a:p>
        </p:txBody>
      </p:sp>
      <p:sp>
        <p:nvSpPr>
          <p:cNvPr id="41" name="Text 5"/>
          <p:cNvSpPr/>
          <p:nvPr/>
        </p:nvSpPr>
        <p:spPr>
          <a:xfrm>
            <a:off x="492462" y="4513248"/>
            <a:ext cx="6309372" cy="1242138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덜 훈련된 낙오자의 개인화된 모델은 훨씬 덜 최적화되어 있음</a:t>
            </a:r>
            <a:endParaRPr 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불완전한 지식이 전역 모델에 통합되어 다른 클라이언트의 훈련 방해</a:t>
            </a:r>
            <a:endParaRPr lang="en-US" altLang="ko-KR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전체 모델 수렴 속도를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지연시킴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협업 학습 단계에서 집계된 업데이트를 왜곡시킴</a:t>
            </a:r>
            <a:endParaRPr lang="en-US" altLang="ko-KR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PFL 시스템의 전반적인 성능과 견고성에 부정적 영향</a:t>
            </a:r>
            <a:endParaRPr lang="en-US" altLang="ko-KR" sz="1400"/>
          </a:p>
        </p:txBody>
      </p:sp>
      <p:sp>
        <p:nvSpPr>
          <p:cNvPr id="42" name="TextBox 3"/>
          <p:cNvSpPr txBox="1"/>
          <p:nvPr/>
        </p:nvSpPr>
        <p:spPr>
          <a:xfrm>
            <a:off x="620472" y="6282494"/>
            <a:ext cx="10951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800" b="1">
                <a:solidFill>
                  <a:schemeClr val="bg1"/>
                </a:solidFill>
                <a:latin typeface="+mn-ea"/>
                <a:cs typeface="Arial"/>
              </a:rPr>
              <a:t>연구 목적 </a:t>
            </a:r>
            <a:r>
              <a:rPr lang="en-US" altLang="ko-KR" b="1">
                <a:solidFill>
                  <a:schemeClr val="bg1"/>
                </a:solidFill>
                <a:latin typeface="+mn-ea"/>
                <a:cs typeface="Arial"/>
              </a:rPr>
              <a:t>:</a:t>
            </a:r>
            <a:r>
              <a:rPr lang="en-US" altLang="ko-KR" sz="1800">
                <a:solidFill>
                  <a:srgbClr val="f0f0f0"/>
                </a:solidFill>
                <a:latin typeface="+mn-ea"/>
                <a:cs typeface="Arial"/>
              </a:rPr>
              <a:t>  </a:t>
            </a:r>
            <a:r>
              <a:rPr lang="en-US" altLang="ko-KR" sz="1800" b="1">
                <a:solidFill>
                  <a:srgbClr val="ff6600"/>
                </a:solidFill>
                <a:latin typeface="+mn-ea"/>
                <a:cs typeface="Arial"/>
              </a:rPr>
              <a:t>FedAS</a:t>
            </a:r>
            <a:r>
              <a:rPr lang="ko-KR" altLang="en-US" sz="1800">
                <a:solidFill>
                  <a:schemeClr val="bg1"/>
                </a:solidFill>
                <a:latin typeface="+mn-ea"/>
                <a:cs typeface="Arial"/>
              </a:rPr>
              <a:t>는 개인화 연합 학습의 두 가지 주요 불일치 문제를 해결하는 새로운 프레임워크 제안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4" name="Text 0"/>
          <p:cNvSpPr/>
          <p:nvPr/>
        </p:nvSpPr>
        <p:spPr>
          <a:xfrm>
            <a:off x="393812" y="231536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3600"/>
              </a:lnSpc>
              <a:buNone/>
              <a:defRPr/>
            </a:pPr>
            <a:r>
              <a:rPr lang="en-US" sz="2400" b="1">
                <a:solidFill>
                  <a:srgbClr val="ff6b35"/>
                </a:solidFill>
                <a:latin typeface="+mn-ea"/>
                <a:cs typeface="Arial"/>
              </a:rPr>
              <a:t>핵심 문제 정의</a:t>
            </a:r>
            <a:r>
              <a:rPr lang="ko-KR" altLang="en-US" sz="2400" b="1">
                <a:solidFill>
                  <a:srgbClr val="ff6b35"/>
                </a:solidFill>
                <a:latin typeface="+mn-ea"/>
                <a:cs typeface="Arial"/>
              </a:rPr>
              <a:t> </a:t>
            </a:r>
            <a:r>
              <a:rPr lang="en-US" altLang="ko-KR" sz="2400" b="1">
                <a:solidFill>
                  <a:srgbClr val="ff6b35"/>
                </a:solidFill>
                <a:latin typeface="+mn-ea"/>
                <a:cs typeface="Arial"/>
              </a:rPr>
              <a:t>2</a:t>
            </a:r>
            <a:endParaRPr lang="en-US" altLang="ko-KR" sz="2400" b="1">
              <a:solidFill>
                <a:srgbClr val="ff6b35"/>
              </a:solidFill>
              <a:latin typeface="+mn-ea"/>
              <a:cs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7217831" y="5475087"/>
            <a:ext cx="4811785" cy="79464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en-US" altLang="ko-KR" sz="1600" b="1">
                <a:solidFill>
                  <a:srgbClr val="ff6600"/>
                </a:solidFill>
                <a:latin typeface="+mn-ea"/>
                <a:cs typeface="Arial"/>
              </a:rPr>
              <a:t>==&gt;</a:t>
            </a:r>
            <a:r>
              <a:rPr lang="ko-KR" altLang="en-US" sz="1600" b="1">
                <a:solidFill>
                  <a:srgbClr val="ff6600"/>
                </a:solidFill>
                <a:latin typeface="+mn-ea"/>
                <a:cs typeface="Arial"/>
              </a:rPr>
              <a:t> </a:t>
            </a:r>
            <a:r>
              <a:rPr lang="en-US" sz="1600" b="1">
                <a:solidFill>
                  <a:srgbClr val="ff6600"/>
                </a:solidFill>
                <a:latin typeface="+mn-ea"/>
                <a:cs typeface="Arial"/>
              </a:rPr>
              <a:t>성능 저하와 모델의 일반화 능력 감소를 초래</a:t>
            </a:r>
            <a:endParaRPr lang="en-US" sz="1600" b="1">
              <a:solidFill>
                <a:srgbClr val="ff6600"/>
              </a:solidFill>
              <a:latin typeface="+mn-ea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3"/>
          <a:srcRect l="1125"/>
          <a:stretch>
            <a:fillRect/>
          </a:stretch>
        </p:blipFill>
        <p:spPr>
          <a:xfrm>
            <a:off x="451261" y="1009734"/>
            <a:ext cx="9578551" cy="8382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3600"/>
              </a:lnSpc>
              <a:buNone/>
              <a:defRPr/>
            </a:pPr>
            <a:r>
              <a:rPr 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FedAS 프레임워크</a:t>
            </a:r>
            <a:r>
              <a:rPr lang="ko-KR" alt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 전체 알고리즘 개요</a:t>
            </a:r>
            <a:endParaRPr lang="ko-KR" altLang="en-US" sz="2400" b="1">
              <a:solidFill>
                <a:srgbClr val="ff6b35"/>
              </a:solidFill>
              <a:latin typeface="맑은 고딕"/>
              <a:ea typeface="맑은 고딕"/>
              <a:cs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71039" y="1162134"/>
            <a:ext cx="8621659" cy="5334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en-US" sz="16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FedAS (Federated Parameter-Alignment and Client-Synchronization)</a:t>
            </a:r>
            <a:endParaRPr lang="en-US" sz="1600" b="1">
              <a:solidFill>
                <a:srgbClr val="ff6b35"/>
              </a:solidFill>
              <a:latin typeface="맑은 고딕"/>
              <a:ea typeface="맑은 고딕"/>
              <a:cs typeface="Arial"/>
            </a:endParaRPr>
          </a:p>
          <a:p>
            <a:pPr marL="0" lvl="0" indent="0">
              <a:lnSpc>
                <a:spcPts val="2100"/>
              </a:lnSpc>
              <a:buNone/>
              <a:defRPr/>
            </a:pPr>
            <a:r>
              <a:rPr lang="en-US" sz="14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  </a:t>
            </a:r>
            <a:r>
              <a:rPr lang="en-US" sz="1400" b="1">
                <a:solidFill>
                  <a:srgbClr val="f0f0f0"/>
                </a:solidFill>
                <a:latin typeface="맑은 고딕"/>
                <a:ea typeface="맑은 고딕"/>
                <a:cs typeface="Arial"/>
                <a:sym typeface="Wingdings"/>
              </a:rPr>
              <a:t> </a:t>
            </a:r>
            <a:r>
              <a:rPr 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개인화 연합 학습(PFL)의 두 가지 주요 불일치 문제를 해결하기 위한 새로운 프레임워크</a:t>
            </a:r>
            <a:endParaRPr lang="en-US" sz="140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 rotWithShape="1">
          <a:blip r:embed="rId4"/>
          <a:srcRect l="2406" r="-1"/>
          <a:stretch>
            <a:fillRect/>
          </a:stretch>
        </p:blipFill>
        <p:spPr>
          <a:xfrm>
            <a:off x="450306" y="2019468"/>
            <a:ext cx="4157161" cy="4305300"/>
          </a:xfrm>
          <a:prstGeom prst="rect">
            <a:avLst/>
          </a:prstGeom>
        </p:spPr>
      </p:pic>
      <p:sp>
        <p:nvSpPr>
          <p:cNvPr id="35" name="Text 1"/>
          <p:cNvSpPr/>
          <p:nvPr/>
        </p:nvSpPr>
        <p:spPr>
          <a:xfrm>
            <a:off x="640751" y="2133768"/>
            <a:ext cx="2334263" cy="2667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2100"/>
              </a:lnSpc>
              <a:buNone/>
              <a:defRPr/>
            </a:pPr>
            <a:r>
              <a:rPr lang="en-US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FedAS 알고리즘 단계</a:t>
            </a:r>
            <a:endParaRPr lang="en-US">
              <a:solidFill>
                <a:srgbClr val="ff6b35"/>
              </a:solidFill>
            </a:endParaRPr>
          </a:p>
        </p:txBody>
      </p:sp>
      <p:sp>
        <p:nvSpPr>
          <p:cNvPr id="36" name="Text 3"/>
          <p:cNvSpPr/>
          <p:nvPr/>
        </p:nvSpPr>
        <p:spPr>
          <a:xfrm>
            <a:off x="588639" y="2514768"/>
            <a:ext cx="4018828" cy="3526511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228600" lvl="0" indent="-228600">
              <a:lnSpc>
                <a:spcPts val="1800"/>
              </a:lnSpc>
              <a:buAutoNum type="arabicPeriod"/>
              <a:defRPr/>
            </a:pPr>
            <a:r>
              <a:rPr lang="en-US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초기화</a:t>
            </a:r>
            <a:endParaRPr lang="en-US" sz="16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서버에서 전역 모델 파라미터 초기화</a:t>
            </a:r>
            <a:endParaRPr lang="en-US" altLang="ko-KR" sz="1400">
              <a:solidFill>
                <a:srgbClr val="f0f0f0"/>
              </a:solidFill>
              <a:latin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endParaRPr lang="en-US" altLang="ko-KR" sz="1400"/>
          </a:p>
          <a:p>
            <a:pPr lvl="0">
              <a:lnSpc>
                <a:spcPts val="1800"/>
              </a:lnSpc>
              <a:defRPr/>
            </a:pPr>
            <a:r>
              <a:rPr lang="en-US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2.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파라미터 정렬</a:t>
            </a:r>
            <a:endParaRPr lang="ko-KR" altLang="en-US" sz="16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클라이언트에서 로컬 지식을 사용하여 전역 백본 지역화</a:t>
            </a:r>
            <a:endParaRPr lang="en-US" altLang="ko-KR" sz="1400">
              <a:solidFill>
                <a:srgbClr val="f0f0f0"/>
              </a:solidFill>
              <a:latin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endParaRPr lang="en-US" altLang="ko-KR" sz="14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3.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로컬 훈련</a:t>
            </a:r>
            <a:endParaRPr lang="ko-KR" altLang="en-US" sz="16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클라이언트에서 개인화된 모델로 로컬 훈련 수행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endParaRPr lang="en-US" altLang="ko-KR" sz="14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4.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클라이언트 동기화</a:t>
            </a:r>
            <a:endParaRPr lang="ko-KR" altLang="en-US" sz="16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피셔 정보 행렬 기반으로 알파 값 계산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endParaRPr lang="en-US" altLang="ko-KR" sz="14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r>
              <a:rPr lang="en-US" altLang="ko-KR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5. </a:t>
            </a:r>
            <a:r>
              <a:rPr lang="ko-KR" altLang="en-US" sz="1600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가중치 집계</a:t>
            </a:r>
            <a:endParaRPr lang="ko-KR" altLang="en-US" sz="16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서버에서 알파 가중치를 사용하여 모델 집계</a:t>
            </a:r>
            <a:endParaRPr lang="ko-KR" alt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endParaRPr lang="en-US" altLang="ko-KR" sz="14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ts val="1800"/>
              </a:lnSpc>
              <a:defRPr/>
            </a:pPr>
            <a:endParaRPr lang="en-US" sz="1400" b="1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0" lvl="0" indent="0">
              <a:lnSpc>
                <a:spcPts val="1800"/>
              </a:lnSpc>
              <a:buNone/>
              <a:defRPr/>
            </a:pPr>
            <a:endParaRPr lang="en-US" sz="1400"/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90006" y="2019468"/>
            <a:ext cx="7192379" cy="3343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rcRect l="867"/>
          <a:stretch>
            <a:fillRect/>
          </a:stretch>
        </p:blipFill>
        <p:spPr>
          <a:xfrm>
            <a:off x="968478" y="1495081"/>
            <a:ext cx="5438814" cy="19339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rcRect l="867"/>
          <a:stretch>
            <a:fillRect/>
          </a:stretch>
        </p:blipFill>
        <p:spPr>
          <a:xfrm>
            <a:off x="968478" y="3758816"/>
            <a:ext cx="5438814" cy="225562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rcRect l="867"/>
          <a:stretch>
            <a:fillRect/>
          </a:stretch>
        </p:blipFill>
        <p:spPr>
          <a:xfrm>
            <a:off x="6978598" y="3879393"/>
            <a:ext cx="4397365" cy="2135043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1187592" y="1608603"/>
            <a:ext cx="4637809" cy="5025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600" b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내부 클라이언트 불일치 해결 방안</a:t>
            </a:r>
            <a:endParaRPr lang="en-US" sz="1600" dirty="0"/>
          </a:p>
        </p:txBody>
      </p:sp>
      <p:sp>
        <p:nvSpPr>
          <p:cNvPr id="15" name="Text 2"/>
          <p:cNvSpPr/>
          <p:nvPr/>
        </p:nvSpPr>
        <p:spPr>
          <a:xfrm>
            <a:off x="1187592" y="1922733"/>
            <a:ext cx="5067300" cy="14021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로컬 및 전역 파라미터 간의 불일치 제거</a:t>
            </a:r>
            <a:endParaRPr lang="en-US" altLang="ko-KR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로컬 지식을 전역 백본에 적응시켜 주입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전역 모델이 로컬 데이터 특성에 </a:t>
            </a:r>
            <a:r>
              <a:rPr lang="ko-KR" alt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맞춰짐</a:t>
            </a:r>
            <a:endParaRPr lang="ko-KR" altLang="en-US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로컬 헤드와 전역 백본의 일관성 증가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ko-KR" altLang="en-US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1187592" y="3959814"/>
            <a:ext cx="12701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PA </a:t>
            </a:r>
            <a:r>
              <a:rPr lang="ko-KR" alt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메커니즘</a:t>
            </a:r>
            <a:endParaRPr lang="en-US" sz="1600" dirty="0"/>
          </a:p>
        </p:txBody>
      </p:sp>
      <p:sp>
        <p:nvSpPr>
          <p:cNvPr id="19" name="Text 6"/>
          <p:cNvSpPr/>
          <p:nvPr/>
        </p:nvSpPr>
        <p:spPr>
          <a:xfrm>
            <a:off x="1098640" y="4255540"/>
            <a:ext cx="5245204" cy="13249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클라이언트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i는 이전 라운드에서 학습된 θ</a:t>
            </a:r>
            <a:r>
              <a:rPr lang="en-US" sz="10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i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을 사용하여 로컬 데이터셋 D</a:t>
            </a:r>
            <a:r>
              <a:rPr lang="en-US" sz="10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i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에서 특징 임베딩 H</a:t>
            </a:r>
            <a:r>
              <a:rPr lang="en-US" sz="10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i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생성</a:t>
            </a:r>
            <a:endParaRPr lang="en-US" altLang="ko-KR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현재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라운드의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전역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백본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θ을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사용하여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동일한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방식으로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특징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임베딩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생성</a:t>
            </a:r>
            <a:endParaRPr lang="en-US" altLang="ko-KR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MSE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손실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함수를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최소화하도록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θ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업데이트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SzPct val="100000"/>
              <a:buFontTx/>
              <a:buChar char="-"/>
            </a:pPr>
            <a:endParaRPr lang="en-US" altLang="ko-KR" sz="1400" dirty="0"/>
          </a:p>
          <a:p>
            <a:pPr marL="171450" indent="-171450" algn="l">
              <a:lnSpc>
                <a:spcPct val="150000"/>
              </a:lnSpc>
              <a:buSzPct val="100000"/>
              <a:buFontTx/>
              <a:buChar char="-"/>
            </a:pPr>
            <a:endParaRPr lang="en-US" sz="1400" dirty="0"/>
          </a:p>
          <a:p>
            <a:pPr algn="l">
              <a:lnSpc>
                <a:spcPct val="150000"/>
              </a:lnSpc>
              <a:buSzPct val="100000"/>
            </a:pPr>
            <a:endParaRPr lang="en-US" sz="1400" dirty="0"/>
          </a:p>
        </p:txBody>
      </p:sp>
      <p:sp>
        <p:nvSpPr>
          <p:cNvPr id="20" name="Text 7"/>
          <p:cNvSpPr/>
          <p:nvPr/>
        </p:nvSpPr>
        <p:spPr>
          <a:xfrm>
            <a:off x="1187592" y="5035166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  <a:buSzPct val="100000"/>
            </a:pPr>
            <a:endParaRPr lang="en-US" sz="1400" dirty="0"/>
          </a:p>
        </p:txBody>
      </p:sp>
      <p:sp>
        <p:nvSpPr>
          <p:cNvPr id="21" name="Text 8"/>
          <p:cNvSpPr/>
          <p:nvPr/>
        </p:nvSpPr>
        <p:spPr>
          <a:xfrm>
            <a:off x="7124700" y="4139031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22" name="Text 9"/>
          <p:cNvSpPr/>
          <p:nvPr/>
        </p:nvSpPr>
        <p:spPr>
          <a:xfrm>
            <a:off x="7124700" y="3928235"/>
            <a:ext cx="10499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PA의 효과</a:t>
            </a:r>
            <a:endParaRPr lang="en-US" sz="1600" dirty="0"/>
          </a:p>
        </p:txBody>
      </p:sp>
      <p:sp>
        <p:nvSpPr>
          <p:cNvPr id="23" name="Text 10"/>
          <p:cNvSpPr/>
          <p:nvPr/>
        </p:nvSpPr>
        <p:spPr>
          <a:xfrm>
            <a:off x="7164355" y="4248196"/>
            <a:ext cx="3416352" cy="18150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로컬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-</a:t>
            </a: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글로벌 지식 간극을 채움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비동기 업데이트로 인한 불일치 감소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로컬 헤드와 전역 백본의 협업 향상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개인화된 모델의 일반화 성능 개선</a:t>
            </a:r>
          </a:p>
          <a:p>
            <a:pPr marL="171450" indent="-171450">
              <a:lnSpc>
                <a:spcPct val="150000"/>
              </a:lnSpc>
              <a:buSzPct val="100000"/>
              <a:buFontTx/>
              <a:buChar char="-"/>
            </a:pP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로컬 데이터 처리 방식의 일관성 증가</a:t>
            </a:r>
          </a:p>
          <a:p>
            <a:pPr marL="171450" indent="-171450">
              <a:lnSpc>
                <a:spcPct val="150000"/>
              </a:lnSpc>
              <a:buSzPct val="100000"/>
              <a:buFontTx/>
              <a:buChar char="-"/>
            </a:pPr>
            <a:endParaRPr lang="en-US" altLang="ko-KR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ct val="150000"/>
              </a:lnSpc>
              <a:buSzPct val="100000"/>
              <a:buFontTx/>
              <a:buChar char="-"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055EA4-8BE6-327D-C0E9-BE70A9862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161" y="1495081"/>
            <a:ext cx="4397365" cy="1933919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3600"/>
              </a:lnSpc>
              <a:buNone/>
              <a:defRPr/>
            </a:pPr>
            <a:r>
              <a:rPr lang="ko-KR" alt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파라미터</a:t>
            </a:r>
            <a:r>
              <a:rPr 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 정렬 기법</a:t>
            </a:r>
            <a:r>
              <a:rPr lang="ko-KR" alt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/</a:t>
            </a:r>
            <a:r>
              <a:rPr lang="ko-KR" alt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PA</a:t>
            </a:r>
            <a:r>
              <a:rPr 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(Parameter-Alignment)</a:t>
            </a:r>
            <a:endParaRPr lang="en-US" sz="2400" b="1">
              <a:solidFill>
                <a:srgbClr val="ff6b35"/>
              </a:solidFill>
              <a:latin typeface="맑은 고딕"/>
              <a:ea typeface="맑은 고딕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rcRect l="2978"/>
          <a:stretch>
            <a:fillRect/>
          </a:stretch>
        </p:blipFill>
        <p:spPr>
          <a:xfrm>
            <a:off x="6272456" y="1190744"/>
            <a:ext cx="4842584" cy="199044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4"/>
          <a:srcRect l="1447"/>
          <a:stretch>
            <a:fillRect/>
          </a:stretch>
        </p:blipFill>
        <p:spPr>
          <a:xfrm>
            <a:off x="427885" y="3822244"/>
            <a:ext cx="4949617" cy="218101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rcRect l="2566"/>
          <a:stretch>
            <a:fillRect/>
          </a:stretch>
        </p:blipFill>
        <p:spPr>
          <a:xfrm>
            <a:off x="6328442" y="3884053"/>
            <a:ext cx="4786598" cy="2181018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0273145" cy="666762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3600"/>
              </a:lnSpc>
              <a:buNone/>
              <a:defRPr/>
            </a:pPr>
            <a:r>
              <a:rPr 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클라이언트 동기화 기법 / CS(Client-Synchronization)</a:t>
            </a:r>
            <a:endParaRPr lang="en-US" sz="2400"/>
          </a:p>
        </p:txBody>
      </p:sp>
      <p:sp>
        <p:nvSpPr>
          <p:cNvPr id="23" name="Text 5"/>
          <p:cNvSpPr/>
          <p:nvPr/>
        </p:nvSpPr>
        <p:spPr>
          <a:xfrm>
            <a:off x="6451557" y="1240993"/>
            <a:ext cx="3460951" cy="4571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피셔 정보 행렬 (FIM)</a:t>
            </a:r>
            <a:endParaRPr lang="en-US" dirty="0"/>
          </a:p>
        </p:txBody>
      </p:sp>
      <p:sp>
        <p:nvSpPr>
          <p:cNvPr id="24" name="Text 6"/>
          <p:cNvSpPr/>
          <p:nvPr/>
        </p:nvSpPr>
        <p:spPr>
          <a:xfrm>
            <a:off x="6782341" y="1630174"/>
            <a:ext cx="3958817" cy="1380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모델의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로그-우도 함수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기울기를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활용</a:t>
            </a: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매개변수의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정보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내용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식별</a:t>
            </a:r>
            <a:endParaRPr lang="en-US" altLang="ko-KR" sz="1600" dirty="0">
              <a:solidFill>
                <a:srgbClr val="F0F0F0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t-FIM: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FIM의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대각합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(trace of FIM)</a:t>
            </a:r>
            <a:endParaRPr lang="en-US" altLang="ko-KR" sz="16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7" name="Text 9"/>
          <p:cNvSpPr/>
          <p:nvPr/>
        </p:nvSpPr>
        <p:spPr>
          <a:xfrm>
            <a:off x="8367756" y="2710379"/>
            <a:ext cx="3069416" cy="5263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α</a:t>
            </a:r>
            <a:r>
              <a:rPr lang="en-US" sz="105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i</a:t>
            </a: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 = ∑</a:t>
            </a:r>
            <a:r>
              <a:rPr lang="en-US" sz="105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j=1</a:t>
            </a: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 diag(FIM)</a:t>
            </a:r>
            <a:r>
              <a:rPr lang="en-US" sz="105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j</a:t>
            </a:r>
            <a:endParaRPr lang="en-US" sz="1600" b="1" dirty="0">
              <a:solidFill>
                <a:srgbClr val="FF6B35"/>
              </a:solidFill>
            </a:endParaRPr>
          </a:p>
        </p:txBody>
      </p:sp>
      <p:sp>
        <p:nvSpPr>
          <p:cNvPr id="28" name="Text 10"/>
          <p:cNvSpPr/>
          <p:nvPr/>
        </p:nvSpPr>
        <p:spPr>
          <a:xfrm>
            <a:off x="582123" y="3905425"/>
            <a:ext cx="4217736" cy="268583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b="1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클라이언트 동기화 메커니즘</a:t>
            </a:r>
            <a:endParaRPr lang="en-US"/>
          </a:p>
        </p:txBody>
      </p:sp>
      <p:sp>
        <p:nvSpPr>
          <p:cNvPr id="29" name="Text 11"/>
          <p:cNvSpPr/>
          <p:nvPr/>
        </p:nvSpPr>
        <p:spPr>
          <a:xfrm>
            <a:off x="825315" y="4352868"/>
            <a:ext cx="5038245" cy="1476748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sz="16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각 클라이언트가 훈련 후 FIM 계산</a:t>
            </a:r>
            <a:endParaRPr lang="en-US" sz="16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맑은 고딕"/>
                <a:cs typeface="Arial"/>
              </a:rPr>
              <a:t>t-FIM 값을 클라이언트별로 측정</a:t>
            </a:r>
            <a:endParaRPr lang="en-US" altLang="ko-KR" sz="16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맑은 고딕"/>
                <a:cs typeface="Arial"/>
              </a:rPr>
              <a:t>서버는 정규화된 가중치 α</a:t>
            </a:r>
            <a:r>
              <a:rPr lang="en-US" altLang="ko-KR" sz="1050">
                <a:solidFill>
                  <a:srgbClr val="f0f0f0"/>
                </a:solidFill>
                <a:latin typeface="맑은 고딕"/>
                <a:cs typeface="Arial"/>
              </a:rPr>
              <a:t>i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cs typeface="Arial"/>
              </a:rPr>
              <a:t>’ 계산</a:t>
            </a:r>
            <a:endParaRPr lang="en-US" altLang="ko-KR" sz="16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맑은 고딕"/>
                <a:cs typeface="Arial"/>
              </a:rPr>
              <a:t>학습이 덜 된 낙오자 클라이언트의 영향 감소</a:t>
            </a:r>
            <a:endParaRPr lang="en-US" altLang="ko-KR" sz="16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altLang="ko-KR" sz="1600"/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altLang="ko-KR" sz="1600"/>
          </a:p>
          <a:p>
            <a:pPr marL="171450" lvl="0" indent="-171450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altLang="ko-KR" sz="1600"/>
          </a:p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endParaRPr lang="en-US" sz="1600"/>
          </a:p>
        </p:txBody>
      </p:sp>
      <p:sp>
        <p:nvSpPr>
          <p:cNvPr id="33" name="Text 15"/>
          <p:cNvSpPr/>
          <p:nvPr/>
        </p:nvSpPr>
        <p:spPr>
          <a:xfrm>
            <a:off x="6451557" y="4021233"/>
            <a:ext cx="3170830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가중치 집계</a:t>
            </a:r>
            <a:endParaRPr lang="en-US" dirty="0"/>
          </a:p>
        </p:txBody>
      </p:sp>
      <p:sp>
        <p:nvSpPr>
          <p:cNvPr id="34" name="Text 16"/>
          <p:cNvSpPr/>
          <p:nvPr/>
        </p:nvSpPr>
        <p:spPr>
          <a:xfrm>
            <a:off x="6782341" y="4453687"/>
            <a:ext cx="4466230" cy="9209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α</a:t>
            </a:r>
            <a:r>
              <a:rPr lang="en-US" sz="105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i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'를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사용한 전역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모델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집계</a:t>
            </a: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활성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클라이언트의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기여도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높임</a:t>
            </a:r>
            <a:endParaRPr lang="en-US" altLang="ko-KR" sz="16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수렴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속도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향상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및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일반화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능력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향상</a:t>
            </a:r>
            <a:endParaRPr lang="en-US" altLang="ko-KR" sz="1600" dirty="0"/>
          </a:p>
          <a:p>
            <a:pPr algn="l">
              <a:lnSpc>
                <a:spcPct val="150000"/>
              </a:lnSpc>
              <a:buSzPct val="100000"/>
            </a:pPr>
            <a:endParaRPr lang="en-US" sz="1600" dirty="0"/>
          </a:p>
        </p:txBody>
      </p:sp>
      <p:sp>
        <p:nvSpPr>
          <p:cNvPr id="37" name="Text 19"/>
          <p:cNvSpPr/>
          <p:nvPr/>
        </p:nvSpPr>
        <p:spPr>
          <a:xfrm>
            <a:off x="7935155" y="5617007"/>
            <a:ext cx="3480552" cy="6531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θ = θ + (1/m) ∑</a:t>
            </a:r>
            <a:r>
              <a:rPr lang="en-US" sz="105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i=1</a:t>
            </a: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 α</a:t>
            </a:r>
            <a:r>
              <a:rPr lang="en-US" sz="105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i</a:t>
            </a: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' * Δθ</a:t>
            </a:r>
            <a:r>
              <a:rPr lang="en-US" sz="105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34" charset="-120"/>
              </a:rPr>
              <a:t>i</a:t>
            </a:r>
            <a:endParaRPr lang="en-US" sz="1600" b="1" dirty="0">
              <a:solidFill>
                <a:srgbClr val="FF6B3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000" y="1587058"/>
            <a:ext cx="5435675" cy="109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800" b="1">
                <a:solidFill>
                  <a:srgbClr val="ff6600"/>
                </a:solidFill>
                <a:latin typeface="맑은 고딕"/>
                <a:ea typeface="맑은 고딕"/>
                <a:cs typeface="Arial"/>
              </a:rPr>
              <a:t>낙오자</a:t>
            </a:r>
            <a:r>
              <a:rPr lang="en-US" altLang="ko-KR" sz="1800" b="1">
                <a:solidFill>
                  <a:srgbClr val="ff6600"/>
                </a:solidFill>
                <a:latin typeface="맑은 고딕"/>
                <a:ea typeface="맑은 고딕"/>
                <a:cs typeface="Arial"/>
              </a:rPr>
              <a:t>(Stragglers) </a:t>
            </a:r>
            <a:r>
              <a:rPr lang="ko-KR" altLang="en-US" sz="1800" b="1">
                <a:solidFill>
                  <a:srgbClr val="ff6600"/>
                </a:solidFill>
                <a:latin typeface="맑은 고딕"/>
                <a:ea typeface="맑은 고딕"/>
                <a:cs typeface="Arial"/>
              </a:rPr>
              <a:t>문제</a:t>
            </a:r>
            <a:endParaRPr lang="ko-KR" altLang="en-US" sz="1800" b="1">
              <a:solidFill>
                <a:srgbClr val="ff6600"/>
              </a:solidFill>
              <a:latin typeface="맑은 고딕"/>
              <a:ea typeface="맑은 고딕"/>
              <a:cs typeface="Arial"/>
            </a:endParaRPr>
          </a:p>
          <a:p>
            <a:pPr lvl="0">
              <a:defRPr/>
            </a:pP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"Stragglers"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는 연합 학습 중 참여하지 않는 클라이언트로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, </a:t>
            </a:r>
            <a:endParaRPr lang="en-US" altLang="ko-KR" sz="16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defRPr/>
            </a:pP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그들의 미훈련된 모델이 전역 모델에 부정적 영향을 미쳐 </a:t>
            </a:r>
            <a:endParaRPr lang="ko-KR" altLang="en-US" sz="16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defRPr/>
            </a:pPr>
            <a:r>
              <a:rPr lang="ko-KR" altLang="en-US" sz="16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전체 모델 수렴에 방해됨</a:t>
            </a:r>
            <a:endParaRPr lang="ko-KR" altLang="en-US" sz="1600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rcRect l="2834"/>
          <a:stretch>
            <a:fillRect/>
          </a:stretch>
        </p:blipFill>
        <p:spPr>
          <a:xfrm>
            <a:off x="519179" y="4879768"/>
            <a:ext cx="5625933" cy="1475765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5534957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3600"/>
              </a:lnSpc>
              <a:buNone/>
              <a:defRPr/>
            </a:pPr>
            <a:r>
              <a:rPr 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피셔 정보 행렬</a:t>
            </a:r>
            <a:r>
              <a:rPr lang="en-US" altLang="ko-KR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(FIM)</a:t>
            </a:r>
            <a:r>
              <a:rPr 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의 효과 검증</a:t>
            </a:r>
            <a:endParaRPr lang="en-US" sz="2400" b="1">
              <a:solidFill>
                <a:srgbClr val="ff6b35"/>
              </a:solidFill>
              <a:latin typeface="맑은 고딕"/>
              <a:ea typeface="맑은 고딕"/>
              <a:cs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671892" y="5032169"/>
            <a:ext cx="56259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t-FIM의 중요성</a:t>
            </a:r>
            <a:endParaRPr lang="en-US" sz="1600" dirty="0"/>
          </a:p>
        </p:txBody>
      </p:sp>
      <p:sp>
        <p:nvSpPr>
          <p:cNvPr id="27" name="Text 3"/>
          <p:cNvSpPr/>
          <p:nvPr/>
        </p:nvSpPr>
        <p:spPr>
          <a:xfrm>
            <a:off x="671580" y="5314757"/>
            <a:ext cx="5445375" cy="1040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FedAS는 피셔 정보 행렬의 대각합(trace of FIM, t-FIM)을 활용하여 각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클라이언트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모델의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학습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정보량을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측정</a:t>
            </a:r>
            <a:endParaRPr lang="en-US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endParaRPr lang="en-US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학습이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덜 된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클라이언트의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영향을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줄</a:t>
            </a: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이고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ko-KR" alt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활성 클라이언트의 기여를 높임</a:t>
            </a:r>
            <a:endParaRPr lang="en-US" altLang="ko-KR" sz="1400" dirty="0"/>
          </a:p>
          <a:p>
            <a:pPr marL="0" indent="0">
              <a:lnSpc>
                <a:spcPts val="1500"/>
              </a:lnSpc>
              <a:buNone/>
            </a:pPr>
            <a:endParaRPr lang="en-US" sz="1400" dirty="0"/>
          </a:p>
        </p:txBody>
      </p:sp>
      <p:sp>
        <p:nvSpPr>
          <p:cNvPr id="28" name="Text 4"/>
          <p:cNvSpPr/>
          <p:nvPr/>
        </p:nvSpPr>
        <p:spPr>
          <a:xfrm>
            <a:off x="6457762" y="1153475"/>
            <a:ext cx="37045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(a) </a:t>
            </a:r>
            <a:r>
              <a:rPr lang="en-US" sz="1600" b="1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매개변수</a:t>
            </a: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대체 정확도</a:t>
            </a:r>
            <a:endParaRPr lang="en-US" sz="1600" dirty="0"/>
          </a:p>
        </p:txBody>
      </p:sp>
      <p:sp>
        <p:nvSpPr>
          <p:cNvPr id="29" name="Text 5"/>
          <p:cNvSpPr/>
          <p:nvPr/>
        </p:nvSpPr>
        <p:spPr>
          <a:xfrm>
            <a:off x="6715786" y="1530652"/>
            <a:ext cx="4946858" cy="922479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상위 5%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파라미터</a:t>
            </a:r>
            <a:r>
              <a:rPr 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를 대체했을 때 정확도가 급격히 하락</a:t>
            </a:r>
            <a:endParaRPr 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FIM은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cs typeface="Arial"/>
              </a:rPr>
              <a:t>파라미터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의 정보 내용을 </a:t>
            </a:r>
            <a:r>
              <a:rPr lang="en-US" altLang="ko-KR" sz="1400" b="1">
                <a:solidFill>
                  <a:srgbClr val="ff6b35"/>
                </a:solidFill>
                <a:latin typeface="맑은 고딕"/>
                <a:cs typeface="Arial"/>
              </a:rPr>
              <a:t>효과적으로 식별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함</a:t>
            </a:r>
            <a:endParaRPr lang="en-US" altLang="ko-KR" sz="1400">
              <a:solidFill>
                <a:srgbClr val="f0f0f0"/>
              </a:solidFill>
              <a:latin typeface="맑은 고딕"/>
              <a:cs typeface="Arial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모델의 중요한 </a:t>
            </a:r>
            <a:r>
              <a:rPr lang="ko-KR" altLang="en-US" sz="1400">
                <a:solidFill>
                  <a:srgbClr val="f0f0f0"/>
                </a:solidFill>
                <a:latin typeface="맑은 고딕"/>
                <a:cs typeface="Arial"/>
              </a:rPr>
              <a:t>파라미터</a:t>
            </a: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임을 나타냄</a:t>
            </a:r>
            <a:endParaRPr lang="en-US" altLang="ko-KR" sz="1400">
              <a:solidFill>
                <a:srgbClr val="f0f0f0"/>
              </a:solidFill>
              <a:latin typeface="맑은 고딕"/>
              <a:cs typeface="Arial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1400"/>
          </a:p>
          <a:p>
            <a:pPr marL="0" lvl="0" indent="0">
              <a:lnSpc>
                <a:spcPct val="150000"/>
              </a:lnSpc>
              <a:buNone/>
              <a:defRPr/>
            </a:pPr>
            <a:endParaRPr lang="en-US" sz="1400"/>
          </a:p>
          <a:p>
            <a:pPr marL="0" lvl="0" indent="0">
              <a:lnSpc>
                <a:spcPct val="150000"/>
              </a:lnSpc>
              <a:buNone/>
              <a:defRPr/>
            </a:pPr>
            <a:endParaRPr lang="en-US" sz="1400"/>
          </a:p>
        </p:txBody>
      </p:sp>
      <p:sp>
        <p:nvSpPr>
          <p:cNvPr id="32" name="Text 8"/>
          <p:cNvSpPr/>
          <p:nvPr/>
        </p:nvSpPr>
        <p:spPr>
          <a:xfrm>
            <a:off x="6457761" y="2658365"/>
            <a:ext cx="25810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(b) t-FIM 값 증가</a:t>
            </a:r>
            <a:endParaRPr lang="en-US" sz="1600" dirty="0"/>
          </a:p>
        </p:txBody>
      </p:sp>
      <p:sp>
        <p:nvSpPr>
          <p:cNvPr id="33" name="Text 9"/>
          <p:cNvSpPr/>
          <p:nvPr/>
        </p:nvSpPr>
        <p:spPr>
          <a:xfrm>
            <a:off x="6715785" y="3005088"/>
            <a:ext cx="5240863" cy="1119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온라인 클라이언트의 t-FIM 값이 훈련 과정에서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지속적으로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증가</a:t>
            </a:r>
            <a:endParaRPr lang="en-US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모델이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더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많은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지식을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습득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했음을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나타냄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클라이언트는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일반적으로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낮은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t-FIM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값을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가지므로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이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특성을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활용하여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가중치를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부여</a:t>
            </a:r>
            <a:endParaRPr lang="en-US" altLang="ko-KR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45CF803-6A29-0B6B-B717-DF64213F6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92" y="1124884"/>
            <a:ext cx="5366957" cy="3372257"/>
          </a:xfrm>
          <a:prstGeom prst="rect">
            <a:avLst/>
          </a:prstGeom>
        </p:spPr>
      </p:pic>
      <p:pic>
        <p:nvPicPr>
          <p:cNvPr id="42" name="Image 13" descr="preencoded.png">
            <a:extLst>
              <a:ext uri="{FF2B5EF4-FFF2-40B4-BE49-F238E27FC236}">
                <a16:creationId xmlns:a16="http://schemas.microsoft.com/office/drawing/2014/main" id="{E6F0D05C-7AEF-0803-6F4F-6D73BAB9FE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99"/>
          <a:stretch>
            <a:fillRect/>
          </a:stretch>
        </p:blipFill>
        <p:spPr>
          <a:xfrm>
            <a:off x="6305553" y="4497141"/>
            <a:ext cx="5741304" cy="1858392"/>
          </a:xfrm>
          <a:prstGeom prst="rect">
            <a:avLst/>
          </a:prstGeom>
        </p:spPr>
      </p:pic>
      <p:sp>
        <p:nvSpPr>
          <p:cNvPr id="45" name="Text 14">
            <a:extLst>
              <a:ext uri="{FF2B5EF4-FFF2-40B4-BE49-F238E27FC236}">
                <a16:creationId xmlns:a16="http://schemas.microsoft.com/office/drawing/2014/main" id="{DD9B370D-A942-8565-14F9-0BA654D52916}"/>
              </a:ext>
            </a:extLst>
          </p:cNvPr>
          <p:cNvSpPr/>
          <p:nvPr/>
        </p:nvSpPr>
        <p:spPr>
          <a:xfrm>
            <a:off x="6418282" y="4602482"/>
            <a:ext cx="21692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가중치 집계의 이점</a:t>
            </a:r>
            <a:endParaRPr lang="en-US" sz="16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5F0136BD-284B-FBA5-BE18-0B826E77A530}"/>
              </a:ext>
            </a:extLst>
          </p:cNvPr>
          <p:cNvSpPr/>
          <p:nvPr/>
        </p:nvSpPr>
        <p:spPr>
          <a:xfrm>
            <a:off x="6418282" y="4869182"/>
            <a:ext cx="5619748" cy="727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클라이언트의 </a:t>
            </a: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불완전한 지식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이 전역 모델에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통합되지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않음</a:t>
            </a:r>
            <a:endParaRPr lang="en-US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활성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클라이언트의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효율적인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훈련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결과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better weight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연합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학습의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ko-KR" altLang="en-US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수렴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속도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향상</a:t>
            </a:r>
            <a:endParaRPr lang="en-US" altLang="ko-KR" sz="1400" b="1" dirty="0">
              <a:solidFill>
                <a:srgbClr val="FF6B35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전역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모델의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일반화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능력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향상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 환경 설정</a:t>
            </a:r>
            <a:endParaRPr lang="en-US" sz="2400" dirty="0"/>
          </a:p>
        </p:txBody>
      </p:sp>
      <p:sp>
        <p:nvSpPr>
          <p:cNvPr id="14" name="Text 1"/>
          <p:cNvSpPr/>
          <p:nvPr/>
        </p:nvSpPr>
        <p:spPr>
          <a:xfrm>
            <a:off x="1288320" y="1436120"/>
            <a:ext cx="13097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데이터셋</a:t>
            </a:r>
            <a:endParaRPr lang="en-US" sz="2000" dirty="0"/>
          </a:p>
        </p:txBody>
      </p:sp>
      <p:sp>
        <p:nvSpPr>
          <p:cNvPr id="23" name="Text 10"/>
          <p:cNvSpPr/>
          <p:nvPr/>
        </p:nvSpPr>
        <p:spPr>
          <a:xfrm>
            <a:off x="5869363" y="1436120"/>
            <a:ext cx="40160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데이터 이질성 시뮬레이션</a:t>
            </a:r>
            <a:endParaRPr lang="en-US" sz="2000" dirty="0"/>
          </a:p>
        </p:txBody>
      </p:sp>
      <p:sp>
        <p:nvSpPr>
          <p:cNvPr id="24" name="Text 11"/>
          <p:cNvSpPr/>
          <p:nvPr/>
        </p:nvSpPr>
        <p:spPr>
          <a:xfrm>
            <a:off x="6370451" y="1855220"/>
            <a:ext cx="3987189" cy="8444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Dirichlet 분포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를 기반으로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데이터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분할</a:t>
            </a: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algn="l">
              <a:lnSpc>
                <a:spcPts val="1500"/>
              </a:lnSpc>
              <a:buSzPct val="100000"/>
            </a:pP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β </a:t>
            </a:r>
            <a:r>
              <a:rPr lang="en-US" altLang="ko-KR" sz="16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값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은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데이터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비균일성의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정도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조절</a:t>
            </a:r>
            <a:endParaRPr lang="en-US" altLang="ko-KR" sz="1600" dirty="0">
              <a:solidFill>
                <a:srgbClr val="F0F0F0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F0F0F0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β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값이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클수록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비균일성이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심한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분포</a:t>
            </a:r>
            <a:endParaRPr lang="en-US" altLang="ko-KR" sz="1600" dirty="0">
              <a:solidFill>
                <a:srgbClr val="F0F0F0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algn="l">
              <a:lnSpc>
                <a:spcPts val="1500"/>
              </a:lnSpc>
              <a:buSzPct val="100000"/>
            </a:pP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7" name="Text 14"/>
          <p:cNvSpPr/>
          <p:nvPr/>
        </p:nvSpPr>
        <p:spPr>
          <a:xfrm>
            <a:off x="5869363" y="3711343"/>
            <a:ext cx="20556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모델 아키텍처</a:t>
            </a:r>
            <a:endParaRPr lang="en-US" sz="2000" dirty="0"/>
          </a:p>
        </p:txBody>
      </p:sp>
      <p:sp>
        <p:nvSpPr>
          <p:cNvPr id="28" name="Text 15"/>
          <p:cNvSpPr/>
          <p:nvPr/>
        </p:nvSpPr>
        <p:spPr>
          <a:xfrm>
            <a:off x="6270596" y="4120941"/>
            <a:ext cx="43972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6-레이어 CNN </a:t>
            </a:r>
            <a:r>
              <a:rPr lang="en-US" sz="1600" b="1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네트워크</a:t>
            </a:r>
            <a:endParaRPr lang="en-US" sz="1600" dirty="0"/>
          </a:p>
        </p:txBody>
      </p:sp>
      <p:sp>
        <p:nvSpPr>
          <p:cNvPr id="29" name="Text 16"/>
          <p:cNvSpPr/>
          <p:nvPr/>
        </p:nvSpPr>
        <p:spPr>
          <a:xfrm>
            <a:off x="6270596" y="4645005"/>
            <a:ext cx="4629226" cy="707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이미지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분류 작업에 적합한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컨볼루션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신경망</a:t>
            </a: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Cifar10용: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최종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레이어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출력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10</a:t>
            </a:r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F0F0F0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Cifar100용: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최종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레이어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출력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100</a:t>
            </a:r>
            <a:endParaRPr lang="en-US" altLang="ko-KR" sz="1600" dirty="0"/>
          </a:p>
          <a:p>
            <a:pPr marL="171450" indent="-171450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71450" indent="-171450" algn="l">
              <a:lnSpc>
                <a:spcPts val="15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AB0F8A-BD26-F1B6-214C-5583ED8BD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320" y="1787658"/>
            <a:ext cx="3439001" cy="16413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4E15156-143D-BAEC-CCDF-43F2CE07D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320" y="3513838"/>
            <a:ext cx="3439001" cy="16413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rcRect l="1190"/>
          <a:stretch>
            <a:fillRect/>
          </a:stretch>
        </p:blipFill>
        <p:spPr>
          <a:xfrm>
            <a:off x="404997" y="1063006"/>
            <a:ext cx="5534025" cy="4991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3"/>
          <a:srcRect l="1190"/>
          <a:stretch>
            <a:fillRect/>
          </a:stretch>
        </p:blipFill>
        <p:spPr>
          <a:xfrm>
            <a:off x="6276974" y="1066800"/>
            <a:ext cx="5534025" cy="49911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비교 방법론 및 하이퍼파라미터</a:t>
            </a:r>
            <a:endParaRPr lang="en-US" sz="2400" dirty="0"/>
          </a:p>
        </p:txBody>
      </p:sp>
      <p:sp>
        <p:nvSpPr>
          <p:cNvPr id="37" name="Text 1"/>
          <p:cNvSpPr/>
          <p:nvPr/>
        </p:nvSpPr>
        <p:spPr>
          <a:xfrm>
            <a:off x="590550" y="1289050"/>
            <a:ext cx="258146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600" b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비교 대상 알고리즘</a:t>
            </a:r>
            <a:endParaRPr lang="en-US" sz="1600" dirty="0"/>
          </a:p>
        </p:txBody>
      </p:sp>
      <p:sp>
        <p:nvSpPr>
          <p:cNvPr id="38" name="Text 2"/>
          <p:cNvSpPr/>
          <p:nvPr/>
        </p:nvSpPr>
        <p:spPr>
          <a:xfrm>
            <a:off x="566736" y="1778000"/>
            <a:ext cx="5295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FedAS는 다음과 같은 최신 개인화 연합 학습(PFL) </a:t>
            </a:r>
            <a:r>
              <a:rPr lang="en-US" sz="1400" dirty="0" err="1">
                <a:solidFill>
                  <a:srgbClr val="D1D5D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방법들과</a:t>
            </a:r>
            <a:r>
              <a:rPr lang="en-US" sz="1400" dirty="0">
                <a:solidFill>
                  <a:srgbClr val="D1D5D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ko-KR" altLang="en-US" sz="1400" dirty="0">
                <a:solidFill>
                  <a:srgbClr val="D1D5D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비교됨</a:t>
            </a:r>
            <a:endParaRPr lang="en-US" sz="1400" dirty="0"/>
          </a:p>
        </p:txBody>
      </p:sp>
      <p:sp>
        <p:nvSpPr>
          <p:cNvPr id="39" name="Text 3"/>
          <p:cNvSpPr/>
          <p:nvPr/>
        </p:nvSpPr>
        <p:spPr>
          <a:xfrm>
            <a:off x="1881280" y="2162826"/>
            <a:ext cx="1418072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LG-</a:t>
            </a:r>
            <a:r>
              <a:rPr lang="en-US" sz="1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FedAvg</a:t>
            </a: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r>
              <a:rPr lang="en-US" altLang="ko-K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Ditto</a:t>
            </a:r>
          </a:p>
          <a:p>
            <a:pPr>
              <a:lnSpc>
                <a:spcPts val="1800"/>
              </a:lnSpc>
            </a:pP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r>
              <a:rPr lang="en-US" altLang="ko-KR" sz="1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FedALA</a:t>
            </a: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r>
              <a:rPr lang="en-US" altLang="ko-KR" sz="1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FedPAC</a:t>
            </a: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r>
              <a:rPr lang="en-US" altLang="ko-KR" sz="1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FedProx</a:t>
            </a:r>
            <a:r>
              <a:rPr lang="en-US" altLang="ko-K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-P </a:t>
            </a: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1800"/>
              </a:lnSpc>
            </a:pP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ko-K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1800"/>
              </a:lnSpc>
            </a:pP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Text 4"/>
          <p:cNvSpPr/>
          <p:nvPr/>
        </p:nvSpPr>
        <p:spPr>
          <a:xfrm>
            <a:off x="3262831" y="2161540"/>
            <a:ext cx="1103219" cy="2230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FedPer</a:t>
            </a: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800"/>
              </a:lnSpc>
            </a:pPr>
            <a:r>
              <a:rPr lang="en-US" altLang="ko-KR" sz="1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FedBABU</a:t>
            </a:r>
            <a:r>
              <a:rPr lang="en-US" altLang="ko-K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ko-KR" sz="1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FedProto</a:t>
            </a:r>
            <a:r>
              <a:rPr lang="en-US" altLang="ko-K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ko-KR" sz="14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FedAvg</a:t>
            </a:r>
            <a:r>
              <a:rPr lang="en-US" altLang="ko-K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cs typeface="Arial" pitchFamily="34" charset="-120"/>
              </a:rPr>
              <a:t>-P </a:t>
            </a:r>
            <a:endParaRPr lang="en-US" altLang="ko-KR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Text 12"/>
          <p:cNvSpPr/>
          <p:nvPr/>
        </p:nvSpPr>
        <p:spPr>
          <a:xfrm>
            <a:off x="6381725" y="1250950"/>
            <a:ext cx="3920515" cy="273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구현 세부사항</a:t>
            </a:r>
            <a:endParaRPr lang="en-US" sz="1600" dirty="0"/>
          </a:p>
        </p:txBody>
      </p:sp>
      <p:sp>
        <p:nvSpPr>
          <p:cNvPr id="49" name="Text 13"/>
          <p:cNvSpPr/>
          <p:nvPr/>
        </p:nvSpPr>
        <p:spPr>
          <a:xfrm>
            <a:off x="6362700" y="1752600"/>
            <a:ext cx="5295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모든 실험에서 공정한 비교를 위해 동일한 하이퍼파라미터 </a:t>
            </a:r>
            <a:r>
              <a:rPr lang="en-US" sz="1400" dirty="0" err="1">
                <a:solidFill>
                  <a:srgbClr val="D1D5D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설정을</a:t>
            </a:r>
            <a:r>
              <a:rPr lang="en-US" sz="1400" dirty="0">
                <a:solidFill>
                  <a:srgbClr val="D1D5D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ko-KR" altLang="en-US" sz="1400" dirty="0">
                <a:solidFill>
                  <a:srgbClr val="D1D5D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사용함</a:t>
            </a:r>
            <a:endParaRPr lang="en-US" sz="1400" dirty="0"/>
          </a:p>
        </p:txBody>
      </p:sp>
      <p:sp>
        <p:nvSpPr>
          <p:cNvPr id="50" name="Text 14"/>
          <p:cNvSpPr/>
          <p:nvPr/>
        </p:nvSpPr>
        <p:spPr>
          <a:xfrm>
            <a:off x="7286625" y="2376186"/>
            <a:ext cx="16350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클라이언트 수</a:t>
            </a:r>
            <a:endParaRPr lang="en-US" sz="1400" dirty="0">
              <a:solidFill>
                <a:srgbClr val="FF6B35"/>
              </a:solidFill>
            </a:endParaRPr>
          </a:p>
        </p:txBody>
      </p:sp>
      <p:sp>
        <p:nvSpPr>
          <p:cNvPr id="51" name="Text 15"/>
          <p:cNvSpPr/>
          <p:nvPr/>
        </p:nvSpPr>
        <p:spPr>
          <a:xfrm>
            <a:off x="9442546" y="2376186"/>
            <a:ext cx="12515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52" name="Text 16"/>
          <p:cNvSpPr/>
          <p:nvPr/>
        </p:nvSpPr>
        <p:spPr>
          <a:xfrm>
            <a:off x="7286625" y="2795286"/>
            <a:ext cx="19620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글로벌 라운드 (Eg)</a:t>
            </a:r>
            <a:endParaRPr lang="en-US" sz="1400" dirty="0">
              <a:solidFill>
                <a:srgbClr val="FF6B35"/>
              </a:solidFill>
            </a:endParaRPr>
          </a:p>
        </p:txBody>
      </p:sp>
      <p:sp>
        <p:nvSpPr>
          <p:cNvPr id="53" name="Text 17"/>
          <p:cNvSpPr/>
          <p:nvPr/>
        </p:nvSpPr>
        <p:spPr>
          <a:xfrm>
            <a:off x="9442546" y="2795286"/>
            <a:ext cx="12515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54" name="Text 18"/>
          <p:cNvSpPr/>
          <p:nvPr/>
        </p:nvSpPr>
        <p:spPr>
          <a:xfrm>
            <a:off x="7286624" y="3214386"/>
            <a:ext cx="2336759" cy="260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로컬 업데이트 에포크 (El)</a:t>
            </a:r>
            <a:endParaRPr lang="en-US" sz="1400" dirty="0">
              <a:solidFill>
                <a:srgbClr val="FF6B35"/>
              </a:solidFill>
            </a:endParaRPr>
          </a:p>
        </p:txBody>
      </p:sp>
      <p:sp>
        <p:nvSpPr>
          <p:cNvPr id="55" name="Text 19"/>
          <p:cNvSpPr/>
          <p:nvPr/>
        </p:nvSpPr>
        <p:spPr>
          <a:xfrm>
            <a:off x="9442546" y="3214386"/>
            <a:ext cx="12515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20"/>
          <p:cNvSpPr/>
          <p:nvPr/>
        </p:nvSpPr>
        <p:spPr>
          <a:xfrm>
            <a:off x="7286625" y="3633486"/>
            <a:ext cx="16350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옵티마이저</a:t>
            </a:r>
            <a:endParaRPr lang="en-US" sz="1400" dirty="0">
              <a:solidFill>
                <a:srgbClr val="FF6B35"/>
              </a:solidFill>
            </a:endParaRPr>
          </a:p>
        </p:txBody>
      </p:sp>
      <p:sp>
        <p:nvSpPr>
          <p:cNvPr id="57" name="Text 21"/>
          <p:cNvSpPr/>
          <p:nvPr/>
        </p:nvSpPr>
        <p:spPr>
          <a:xfrm>
            <a:off x="9442546" y="3633486"/>
            <a:ext cx="12515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SGD</a:t>
            </a:r>
            <a:endParaRPr lang="en-US" sz="1400" dirty="0"/>
          </a:p>
        </p:txBody>
      </p:sp>
      <p:sp>
        <p:nvSpPr>
          <p:cNvPr id="58" name="Text 22"/>
          <p:cNvSpPr/>
          <p:nvPr/>
        </p:nvSpPr>
        <p:spPr>
          <a:xfrm>
            <a:off x="7286625" y="4052586"/>
            <a:ext cx="16350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학습률</a:t>
            </a:r>
            <a:endParaRPr lang="en-US" sz="1400" dirty="0">
              <a:solidFill>
                <a:srgbClr val="FF6B35"/>
              </a:solidFill>
            </a:endParaRPr>
          </a:p>
        </p:txBody>
      </p:sp>
      <p:sp>
        <p:nvSpPr>
          <p:cNvPr id="59" name="Text 23"/>
          <p:cNvSpPr/>
          <p:nvPr/>
        </p:nvSpPr>
        <p:spPr>
          <a:xfrm>
            <a:off x="9442546" y="4052586"/>
            <a:ext cx="12515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5e-3</a:t>
            </a:r>
            <a:endParaRPr lang="en-US" sz="1400" dirty="0"/>
          </a:p>
        </p:txBody>
      </p:sp>
      <p:sp>
        <p:nvSpPr>
          <p:cNvPr id="60" name="Text 24"/>
          <p:cNvSpPr/>
          <p:nvPr/>
        </p:nvSpPr>
        <p:spPr>
          <a:xfrm>
            <a:off x="7286625" y="4471686"/>
            <a:ext cx="16350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학습률 감쇠 값</a:t>
            </a:r>
            <a:endParaRPr lang="en-US" sz="1400" dirty="0">
              <a:solidFill>
                <a:srgbClr val="FF6B35"/>
              </a:solidFill>
            </a:endParaRPr>
          </a:p>
        </p:txBody>
      </p:sp>
      <p:sp>
        <p:nvSpPr>
          <p:cNvPr id="61" name="Text 25"/>
          <p:cNvSpPr/>
          <p:nvPr/>
        </p:nvSpPr>
        <p:spPr>
          <a:xfrm>
            <a:off x="9442546" y="4471686"/>
            <a:ext cx="12515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1e-3</a:t>
            </a:r>
            <a:endParaRPr lang="en-US" sz="1400" dirty="0"/>
          </a:p>
        </p:txBody>
      </p:sp>
      <p:sp>
        <p:nvSpPr>
          <p:cNvPr id="62" name="Text 26"/>
          <p:cNvSpPr/>
          <p:nvPr/>
        </p:nvSpPr>
        <p:spPr>
          <a:xfrm>
            <a:off x="7286625" y="4890786"/>
            <a:ext cx="16350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훈련 배치 크기</a:t>
            </a:r>
            <a:endParaRPr lang="en-US" sz="1400" dirty="0">
              <a:solidFill>
                <a:srgbClr val="FF6B35"/>
              </a:solidFill>
            </a:endParaRPr>
          </a:p>
        </p:txBody>
      </p:sp>
      <p:sp>
        <p:nvSpPr>
          <p:cNvPr id="63" name="Text 27"/>
          <p:cNvSpPr/>
          <p:nvPr/>
        </p:nvSpPr>
        <p:spPr>
          <a:xfrm>
            <a:off x="9442546" y="4890786"/>
            <a:ext cx="12515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16</a:t>
            </a:r>
            <a:endParaRPr lang="en-US" sz="1400" dirty="0"/>
          </a:p>
        </p:txBody>
      </p:sp>
      <p:sp>
        <p:nvSpPr>
          <p:cNvPr id="64" name="Text 28"/>
          <p:cNvSpPr/>
          <p:nvPr/>
        </p:nvSpPr>
        <p:spPr>
          <a:xfrm>
            <a:off x="7286625" y="5309886"/>
            <a:ext cx="1765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랜덤 시드</a:t>
            </a:r>
            <a:endParaRPr lang="en-US" sz="1400" dirty="0">
              <a:solidFill>
                <a:srgbClr val="FF6B35"/>
              </a:solidFill>
            </a:endParaRPr>
          </a:p>
        </p:txBody>
      </p:sp>
      <p:sp>
        <p:nvSpPr>
          <p:cNvPr id="65" name="Text 29"/>
          <p:cNvSpPr/>
          <p:nvPr/>
        </p:nvSpPr>
        <p:spPr>
          <a:xfrm>
            <a:off x="9434272" y="5309886"/>
            <a:ext cx="275772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PyTorch 및 NumPy의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랜덤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시드는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0으로 설정</a:t>
            </a:r>
            <a:endParaRPr lang="en-US" sz="1400" dirty="0"/>
          </a:p>
        </p:txBody>
      </p:sp>
      <p:sp>
        <p:nvSpPr>
          <p:cNvPr id="66" name="Text 30"/>
          <p:cNvSpPr/>
          <p:nvPr/>
        </p:nvSpPr>
        <p:spPr>
          <a:xfrm>
            <a:off x="2590316" y="6195092"/>
            <a:ext cx="338756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모든 실험은 Cifar100 데이터셋을 </a:t>
            </a:r>
            <a:r>
              <a:rPr lang="en-US" sz="12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사용하여</a:t>
            </a:r>
            <a:r>
              <a:rPr lang="en-US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수행</a:t>
            </a:r>
            <a:endParaRPr lang="en-US" sz="12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ts val="1500"/>
              </a:lnSpc>
            </a:pPr>
            <a:r>
              <a:rPr lang="en-US" altLang="ko-KR" sz="12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비교를</a:t>
            </a: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위해</a:t>
            </a: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β </a:t>
            </a:r>
            <a:r>
              <a:rPr lang="en-US" altLang="ko-KR" sz="12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값은</a:t>
            </a: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{0.1, 0.3, 0.5}로 </a:t>
            </a:r>
            <a:r>
              <a:rPr lang="en-US" altLang="ko-KR" sz="12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설정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31140-7B3B-CFBF-CAED-7EDCDB62FFF5}"/>
              </a:ext>
            </a:extLst>
          </p:cNvPr>
          <p:cNvSpPr txBox="1"/>
          <p:nvPr/>
        </p:nvSpPr>
        <p:spPr>
          <a:xfrm>
            <a:off x="783089" y="4415806"/>
            <a:ext cx="4959483" cy="166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•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FedAvg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-P,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FedProx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-P: 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기존 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FL 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알고리즘의 개인화 버전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•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FedPer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, Ditto: 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개인화 파라미터만 업데이트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•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FedBABU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,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FedALA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특성 </a:t>
            </a:r>
            <a:r>
              <a:rPr lang="ko-KR" alt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추출기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공유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•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FedProto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,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FedPAC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: prototype 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기반 개인화</a:t>
            </a:r>
          </a:p>
          <a:p>
            <a:pPr>
              <a:lnSpc>
                <a:spcPct val="150000"/>
              </a:lnSpc>
            </a:pPr>
            <a:endParaRPr lang="ko-KR" alt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956475"/>
            <a:ext cx="5055870" cy="2891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 l="1508" r="-1"/>
          <a:stretch>
            <a:fillRect/>
          </a:stretch>
        </p:blipFill>
        <p:spPr>
          <a:xfrm>
            <a:off x="6410831" y="956475"/>
            <a:ext cx="5252849" cy="201929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rcRect l="1508" r="-1"/>
          <a:stretch>
            <a:fillRect/>
          </a:stretch>
        </p:blipFill>
        <p:spPr>
          <a:xfrm>
            <a:off x="6410831" y="4038600"/>
            <a:ext cx="5252849" cy="235204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Cifar100 성능 비교 결과</a:t>
            </a:r>
            <a:endParaRPr lang="en-US" sz="2400" dirty="0"/>
          </a:p>
        </p:txBody>
      </p:sp>
      <p:sp>
        <p:nvSpPr>
          <p:cNvPr id="16" name="Text 2"/>
          <p:cNvSpPr/>
          <p:nvPr/>
        </p:nvSpPr>
        <p:spPr>
          <a:xfrm>
            <a:off x="6665474" y="108030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 설정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6665474" y="1366050"/>
            <a:ext cx="4657847" cy="16097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Cifar100</a:t>
            </a:r>
            <a:r>
              <a:rPr lang="en-US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: 100개 클래스에 걸쳐 60,000개의 32x32 </a:t>
            </a:r>
            <a:r>
              <a:rPr lang="en-US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컬러</a:t>
            </a:r>
            <a:r>
              <a:rPr lang="en-US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이미지</a:t>
            </a:r>
            <a:endParaRPr lang="en-US" sz="12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ko-KR" sz="12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데이터</a:t>
            </a:r>
            <a:r>
              <a:rPr lang="en-US" altLang="ko-KR" sz="12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비균일성</a:t>
            </a:r>
            <a:r>
              <a:rPr lang="en-US" altLang="ko-KR" sz="12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(β)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: 0.1, 0.3, 0.5 (β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값이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클수록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비균일성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심함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)</a:t>
            </a:r>
            <a:endParaRPr lang="en-US" sz="1200" dirty="0"/>
          </a:p>
          <a:p>
            <a:pPr>
              <a:lnSpc>
                <a:spcPct val="200000"/>
              </a:lnSpc>
            </a:pPr>
            <a:r>
              <a:rPr lang="en-US" altLang="ko-KR" sz="12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클라이언트</a:t>
            </a:r>
            <a:r>
              <a:rPr lang="en-US" altLang="ko-KR" sz="12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ko-KR" altLang="en-US" sz="12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참여율</a:t>
            </a:r>
            <a:r>
              <a:rPr lang="en-US" altLang="ko-KR" sz="12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(P)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: 0.2, 0.4, 0.6, 1 (P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값이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작을수록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많음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12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모델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: 6-layer CNN</a:t>
            </a:r>
            <a:endParaRPr lang="en-US" altLang="ko-KR" sz="1200" dirty="0"/>
          </a:p>
        </p:txBody>
      </p:sp>
      <p:sp>
        <p:nvSpPr>
          <p:cNvPr id="20" name="Text 6"/>
          <p:cNvSpPr/>
          <p:nvPr/>
        </p:nvSpPr>
        <p:spPr>
          <a:xfrm>
            <a:off x="6493942" y="419100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주요 결과</a:t>
            </a:r>
            <a:endParaRPr lang="en-US" sz="1500" dirty="0"/>
          </a:p>
        </p:txBody>
      </p:sp>
      <p:sp>
        <p:nvSpPr>
          <p:cNvPr id="21" name="Text 7"/>
          <p:cNvSpPr/>
          <p:nvPr/>
        </p:nvSpPr>
        <p:spPr>
          <a:xfrm>
            <a:off x="6570142" y="4562474"/>
            <a:ext cx="4912488" cy="1952625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>
              <a:lnSpc>
                <a:spcPct val="150000"/>
              </a:lnSpc>
              <a:buFont typeface="Arial"/>
              <a:buChar char="•"/>
              <a:defRPr/>
            </a:pPr>
            <a:r>
              <a:rPr lang="en-US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FedAS는 모든 조건에서 최첨단 방법들보다 높은 정확도를 보임</a:t>
            </a:r>
            <a:endParaRPr lang="en-US" sz="12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1200">
                <a:solidFill>
                  <a:srgbClr val="f0f0f0"/>
                </a:solidFill>
                <a:latin typeface="맑은 고딕"/>
                <a:cs typeface="Arial"/>
              </a:rPr>
              <a:t>데이터 이질성이 심할수록(β 값이 클수록) 다른 방법들보다 FedAS의 성능 향상이 큼</a:t>
            </a:r>
            <a:endParaRPr lang="en-US" altLang="ko-KR" sz="12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1200">
                <a:solidFill>
                  <a:srgbClr val="f0f0f0"/>
                </a:solidFill>
                <a:latin typeface="맑은 고딕"/>
                <a:cs typeface="Arial"/>
              </a:rPr>
              <a:t>클라이언트 온라인 비율이 낮을수록(P 값이 작을수록) FedAS의 Robustness가 뛰어남</a:t>
            </a:r>
            <a:endParaRPr lang="en-US" altLang="ko-KR" sz="12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1200">
                <a:solidFill>
                  <a:srgbClr val="f0f0f0"/>
                </a:solidFill>
                <a:latin typeface="맑은 고딕"/>
                <a:cs typeface="Arial"/>
              </a:rPr>
              <a:t>FedAS는 13가지 조합</a:t>
            </a:r>
            <a:r>
              <a:rPr lang="ko-KR" altLang="en-US" sz="1200">
                <a:solidFill>
                  <a:srgbClr val="f0f0f0"/>
                </a:solidFill>
                <a:latin typeface="맑은 고딕"/>
                <a:cs typeface="Arial"/>
              </a:rPr>
              <a:t> 중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cs typeface="Arial"/>
              </a:rPr>
              <a:t> 5개 이상</a:t>
            </a:r>
            <a:r>
              <a:rPr lang="ko-KR" altLang="en-US" sz="1200">
                <a:solidFill>
                  <a:srgbClr val="f0f0f0"/>
                </a:solidFill>
                <a:latin typeface="맑은 고딕"/>
                <a:cs typeface="Arial"/>
              </a:rPr>
              <a:t>에서 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cs typeface="Arial"/>
              </a:rPr>
              <a:t>다른 </a:t>
            </a:r>
            <a:r>
              <a:rPr lang="ko-KR" altLang="en-US" sz="1200">
                <a:solidFill>
                  <a:srgbClr val="f0f0f0"/>
                </a:solidFill>
                <a:latin typeface="맑은 고딕"/>
                <a:cs typeface="Arial"/>
              </a:rPr>
              <a:t>알고리즘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cs typeface="Arial"/>
              </a:rPr>
              <a:t>들을 능가함</a:t>
            </a:r>
            <a:endParaRPr lang="en-US" altLang="ko-KR" sz="12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Font typeface="Arial"/>
              <a:buChar char="•"/>
              <a:defRPr/>
            </a:pPr>
            <a:endParaRPr lang="en-US" altLang="ko-KR" sz="1200"/>
          </a:p>
          <a:p>
            <a:pPr marL="171450" lvl="0" indent="-171450">
              <a:lnSpc>
                <a:spcPct val="150000"/>
              </a:lnSpc>
              <a:buFont typeface="Arial"/>
              <a:buChar char="•"/>
              <a:defRPr/>
            </a:pPr>
            <a:endParaRPr lang="en-US" altLang="ko-KR" sz="12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21AC17-6724-042D-6F22-FD37CD3C9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" y="4071149"/>
            <a:ext cx="5055870" cy="25388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3"/>
          <a:srcRect l="1949"/>
          <a:stretch>
            <a:fillRect/>
          </a:stretch>
        </p:blipFill>
        <p:spPr>
          <a:xfrm>
            <a:off x="295275" y="4524375"/>
            <a:ext cx="4169448" cy="17049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4"/>
          <a:srcRect l="1727"/>
          <a:stretch>
            <a:fillRect/>
          </a:stretch>
        </p:blipFill>
        <p:spPr>
          <a:xfrm>
            <a:off x="4617123" y="4524375"/>
            <a:ext cx="4267200" cy="17335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5"/>
          <a:srcRect l="2327"/>
          <a:stretch>
            <a:fillRect/>
          </a:stretch>
        </p:blipFill>
        <p:spPr>
          <a:xfrm>
            <a:off x="9036723" y="4533900"/>
            <a:ext cx="3015137" cy="16954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44196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성능 개선 효과 분석</a:t>
            </a:r>
            <a:endParaRPr lang="en-US" sz="2400" dirty="0"/>
          </a:p>
        </p:txBody>
      </p:sp>
      <p:sp>
        <p:nvSpPr>
          <p:cNvPr id="30" name="Text 9"/>
          <p:cNvSpPr/>
          <p:nvPr/>
        </p:nvSpPr>
        <p:spPr>
          <a:xfrm>
            <a:off x="381000" y="4638675"/>
            <a:ext cx="1206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정확도 향상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366237" y="4929187"/>
            <a:ext cx="4024788" cy="1323975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FedAS는 모든 데이터 이질성 조건에서 기존 방법론들을 일관되게 초과</a:t>
            </a:r>
            <a:endParaRPr lang="en-US" sz="12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높은 이질성 (β=0.5) 및 낮은 클라이언트 비율 (P=0.2) 조건에서 가장 큰 향상</a:t>
            </a:r>
            <a:endParaRPr lang="en-US" altLang="ko-KR" sz="12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β=0.5, P=0.2 조건에서는 최대 </a:t>
            </a:r>
            <a:r>
              <a:rPr lang="en-US" altLang="ko-KR" sz="12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18% 이상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의 정확도 향상</a:t>
            </a:r>
            <a:endParaRPr lang="en-US" altLang="ko-KR" sz="12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Tx/>
              <a:buChar char="-"/>
              <a:defRPr/>
            </a:pPr>
            <a:endParaRPr lang="en-US" altLang="ko-KR" sz="1200"/>
          </a:p>
          <a:p>
            <a:pPr marL="171450" lvl="0" indent="-171450" algn="l">
              <a:lnSpc>
                <a:spcPct val="150000"/>
              </a:lnSpc>
              <a:buSzPct val="100000"/>
              <a:buFontTx/>
              <a:buChar char="-"/>
              <a:defRPr/>
            </a:pPr>
            <a:endParaRPr lang="en-US" sz="12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ct val="150000"/>
              </a:lnSpc>
              <a:buSzPct val="100000"/>
              <a:buFontTx/>
              <a:buChar char="-"/>
              <a:defRPr/>
            </a:pPr>
            <a:endParaRPr lang="en-US" sz="1200"/>
          </a:p>
        </p:txBody>
      </p:sp>
      <p:sp>
        <p:nvSpPr>
          <p:cNvPr id="34" name="Text 13"/>
          <p:cNvSpPr/>
          <p:nvPr/>
        </p:nvSpPr>
        <p:spPr>
          <a:xfrm>
            <a:off x="4726901" y="4667250"/>
            <a:ext cx="1206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안정성 개선</a:t>
            </a:r>
            <a:endParaRPr lang="en-US" sz="1500" dirty="0"/>
          </a:p>
        </p:txBody>
      </p:sp>
      <p:sp>
        <p:nvSpPr>
          <p:cNvPr id="35" name="Text 14"/>
          <p:cNvSpPr/>
          <p:nvPr/>
        </p:nvSpPr>
        <p:spPr>
          <a:xfrm>
            <a:off x="4695825" y="4957762"/>
            <a:ext cx="4105275" cy="10287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FedAS는 학습 과정의 안정성을 높여 수렴 속도를 향상</a:t>
            </a:r>
            <a:endParaRPr lang="en-US" sz="12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ko-KR" altLang="en-US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파라미터</a:t>
            </a: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 정렬(PA)과 클라이언트 동기화(CS) 메커니즘의 결합으로 변동성 감소</a:t>
            </a:r>
            <a:endParaRPr lang="en-US" altLang="ko-KR" sz="12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ct val="150000"/>
              </a:lnSpc>
              <a:buSzPct val="100000"/>
              <a:buFont typeface="Arial"/>
              <a:buChar char="•"/>
              <a:defRPr/>
            </a:pPr>
            <a:r>
              <a:rPr lang="en-US" altLang="ko-KR" sz="12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특정 실험 조건에서는 다른 메서드보다 </a:t>
            </a:r>
            <a:r>
              <a:rPr lang="en-US" altLang="ko-KR" sz="12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5-10% 빠른 수렴</a:t>
            </a:r>
            <a:endParaRPr lang="en-US" altLang="ko-KR" sz="1200" b="1">
              <a:solidFill>
                <a:srgbClr val="ff6b35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>
              <a:lnSpc>
                <a:spcPct val="150000"/>
              </a:lnSpc>
              <a:buSzPct val="100000"/>
              <a:buFontTx/>
              <a:buChar char="-"/>
              <a:defRPr/>
            </a:pPr>
            <a:endParaRPr lang="en-US" altLang="ko-KR" sz="1200"/>
          </a:p>
          <a:p>
            <a:pPr marL="171450" lvl="0" indent="-171450" algn="l">
              <a:lnSpc>
                <a:spcPct val="150000"/>
              </a:lnSpc>
              <a:buSzPct val="100000"/>
              <a:buFontTx/>
              <a:buChar char="-"/>
              <a:defRPr/>
            </a:pPr>
            <a:endParaRPr lang="en-US" sz="1200"/>
          </a:p>
          <a:p>
            <a:pPr marL="171450" lvl="0" indent="-171450" algn="l">
              <a:lnSpc>
                <a:spcPct val="150000"/>
              </a:lnSpc>
              <a:buSzPct val="100000"/>
              <a:buFontTx/>
              <a:buChar char="-"/>
              <a:defRPr/>
            </a:pPr>
            <a:endParaRPr lang="en-US" sz="1200"/>
          </a:p>
        </p:txBody>
      </p:sp>
      <p:sp>
        <p:nvSpPr>
          <p:cNvPr id="38" name="Text 17"/>
          <p:cNvSpPr/>
          <p:nvPr/>
        </p:nvSpPr>
        <p:spPr>
          <a:xfrm>
            <a:off x="9115425" y="4667250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주요 장점</a:t>
            </a:r>
            <a:endParaRPr lang="en-US" sz="1500" dirty="0"/>
          </a:p>
        </p:txBody>
      </p:sp>
      <p:sp>
        <p:nvSpPr>
          <p:cNvPr id="39" name="Text 18"/>
          <p:cNvSpPr/>
          <p:nvPr/>
        </p:nvSpPr>
        <p:spPr>
          <a:xfrm>
            <a:off x="9176863" y="4979194"/>
            <a:ext cx="3015137" cy="823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데이터</a:t>
            </a:r>
            <a:r>
              <a:rPr lang="en-US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이질성과 </a:t>
            </a:r>
            <a:r>
              <a:rPr lang="en-US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문제에</a:t>
            </a:r>
            <a:r>
              <a:rPr lang="en-US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견고함</a:t>
            </a:r>
            <a:endParaRPr lang="en-US" altLang="ko-KR" sz="12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서로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다른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조건에서도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일관된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성능</a:t>
            </a:r>
            <a:r>
              <a:rPr lang="en-US" altLang="ko-KR" sz="12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유지</a:t>
            </a:r>
            <a:endParaRPr lang="en-US" altLang="ko-KR" sz="12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ct val="150000"/>
              </a:lnSpc>
              <a:buSzPct val="100000"/>
              <a:buFontTx/>
              <a:buChar char="-"/>
            </a:pPr>
            <a:endParaRPr lang="en-US" altLang="ko-KR" sz="1200" dirty="0"/>
          </a:p>
          <a:p>
            <a:pPr algn="l">
              <a:lnSpc>
                <a:spcPct val="150000"/>
              </a:lnSpc>
              <a:buSzPct val="100000"/>
            </a:pP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5CC428A1-ECA8-FE35-EB07-6851FBF27B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216" y="1086659"/>
            <a:ext cx="9879567" cy="31233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rcRect l="2078"/>
          <a:stretch>
            <a:fillRect/>
          </a:stretch>
        </p:blipFill>
        <p:spPr>
          <a:xfrm>
            <a:off x="465736" y="1066800"/>
            <a:ext cx="4633537" cy="2324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 l="2078"/>
          <a:stretch>
            <a:fillRect/>
          </a:stretch>
        </p:blipFill>
        <p:spPr>
          <a:xfrm>
            <a:off x="465736" y="3543300"/>
            <a:ext cx="4633538" cy="26289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>
              <a:lnSpc>
                <a:spcPts val="3600"/>
              </a:lnSpc>
              <a:buNone/>
              <a:defRPr/>
            </a:pPr>
            <a:r>
              <a:rPr lang="ko-KR" alt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절제 연구</a:t>
            </a:r>
            <a:r>
              <a:rPr lang="en-US" sz="2400" b="1">
                <a:solidFill>
                  <a:srgbClr val="ff6b35"/>
                </a:solidFill>
                <a:latin typeface="맑은 고딕"/>
                <a:ea typeface="맑은 고딕"/>
                <a:cs typeface="Arial"/>
              </a:rPr>
              <a:t> 결과</a:t>
            </a:r>
            <a:endParaRPr lang="en-US" sz="2400" b="1">
              <a:solidFill>
                <a:srgbClr val="ff6b35"/>
              </a:solidFill>
              <a:latin typeface="맑은 고딕"/>
              <a:ea typeface="맑은 고딕"/>
              <a:cs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71500" y="1219200"/>
            <a:ext cx="24765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Ablation Study 개요</a:t>
            </a:r>
            <a:endParaRPr lang="en-US" sz="1600" dirty="0"/>
          </a:p>
        </p:txBody>
      </p:sp>
      <p:sp>
        <p:nvSpPr>
          <p:cNvPr id="24" name="Text 2"/>
          <p:cNvSpPr/>
          <p:nvPr/>
        </p:nvSpPr>
        <p:spPr>
          <a:xfrm>
            <a:off x="571500" y="1638300"/>
            <a:ext cx="4510776" cy="1485900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ko-KR" alt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파라미터</a:t>
            </a:r>
            <a:r>
              <a:rPr lang="en-US" sz="14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 정렬(Parameter Alignment, PA)과 클라이언트 동기화(Client Synchronization, CS) 각 구성 요소의 개별 기여도 분석</a:t>
            </a:r>
            <a:endParaRPr 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sz="14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클라이언트 온라인 비율(P)에 따른 성능 변화 분석</a:t>
            </a:r>
            <a:endParaRPr lang="en-US" altLang="ko-KR" sz="14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altLang="ko-KR" sz="14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400">
                <a:solidFill>
                  <a:srgbClr val="f0f0f0"/>
                </a:solidFill>
                <a:latin typeface="맑은 고딕"/>
                <a:cs typeface="Arial"/>
              </a:rPr>
              <a:t>두 구성 요소의 조합 시 최적의 성능을 확인</a:t>
            </a:r>
            <a:endParaRPr lang="en-US" altLang="ko-KR" sz="14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altLang="ko-KR" sz="1400"/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sz="1400"/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sz="1400"/>
          </a:p>
        </p:txBody>
      </p:sp>
      <p:sp>
        <p:nvSpPr>
          <p:cNvPr id="27" name="Text 5"/>
          <p:cNvSpPr/>
          <p:nvPr/>
        </p:nvSpPr>
        <p:spPr>
          <a:xfrm>
            <a:off x="571500" y="3705225"/>
            <a:ext cx="14004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주요 발견점</a:t>
            </a:r>
            <a:endParaRPr lang="en-US" sz="1600" dirty="0"/>
          </a:p>
        </p:txBody>
      </p:sp>
      <p:sp>
        <p:nvSpPr>
          <p:cNvPr id="28" name="Text 6"/>
          <p:cNvSpPr/>
          <p:nvPr/>
        </p:nvSpPr>
        <p:spPr>
          <a:xfrm>
            <a:off x="571499" y="4072426"/>
            <a:ext cx="4355996" cy="1381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PA만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적용해도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성능</a:t>
            </a:r>
            <a:r>
              <a:rPr lang="en-US" sz="14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향상</a:t>
            </a:r>
            <a:endParaRPr lang="en-US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CS만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적용해도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성능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향상</a:t>
            </a:r>
            <a:endParaRPr lang="en-US" altLang="ko-KR" sz="1400" dirty="0">
              <a:solidFill>
                <a:srgbClr val="F0F0F0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두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구성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요소를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모두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b="1" dirty="0" err="1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적용했을</a:t>
            </a:r>
            <a:r>
              <a:rPr lang="en-US" altLang="ko-KR" sz="1400" b="1" dirty="0">
                <a:solidFill>
                  <a:srgbClr val="FF6B35"/>
                </a:solidFill>
                <a:latin typeface="맑은 고딕" panose="020B0503020000020004" pitchFamily="50" charset="-127"/>
                <a:cs typeface="Arial" pitchFamily="34" charset="-120"/>
              </a:rPr>
              <a:t> 때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최고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성능</a:t>
            </a:r>
            <a:endParaRPr lang="en-US" altLang="ko-KR" sz="1400" dirty="0">
              <a:solidFill>
                <a:srgbClr val="F0F0F0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특히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(stragglers)가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많은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환경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(P=0.2)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에서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두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구성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요소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모두</a:t>
            </a:r>
            <a:r>
              <a:rPr lang="en-US" altLang="ko-KR" sz="14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큰 </a:t>
            </a:r>
            <a:r>
              <a:rPr lang="en-US" altLang="ko-KR" sz="14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효과</a:t>
            </a:r>
            <a:endParaRPr lang="en-US" altLang="ko-KR" sz="1400" dirty="0"/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B2C76D71-4F35-30FA-B6CF-B0DE2CDEC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031" y="1418573"/>
            <a:ext cx="6469969" cy="2124727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EF4B5B83-8493-8251-E396-CC31539F7024}"/>
              </a:ext>
            </a:extLst>
          </p:cNvPr>
          <p:cNvSpPr txBox="1"/>
          <p:nvPr/>
        </p:nvSpPr>
        <p:spPr>
          <a:xfrm>
            <a:off x="4927495" y="3643801"/>
            <a:ext cx="481896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altLang="ko-KR" sz="1400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P </a:t>
            </a:r>
            <a:r>
              <a:rPr lang="en-US" altLang="ko-KR" sz="1400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값이</a:t>
            </a:r>
            <a:r>
              <a:rPr lang="en-US" altLang="ko-KR" sz="1400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작을수록</a:t>
            </a:r>
            <a:r>
              <a:rPr lang="en-US" altLang="ko-KR" sz="1400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altLang="ko-KR" sz="1400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(stragglers) </a:t>
            </a:r>
            <a:r>
              <a:rPr lang="en-US" altLang="ko-KR" sz="1400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비율이</a:t>
            </a:r>
            <a:r>
              <a:rPr lang="en-US" altLang="ko-KR" sz="1400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높음</a:t>
            </a:r>
            <a:endParaRPr lang="en-US" altLang="ko-KR" sz="1400" dirty="0">
              <a:solidFill>
                <a:srgbClr val="FF6B35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ECA877-B9A3-DF17-120B-792AEE5FD8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1031" y="3983398"/>
            <a:ext cx="6469969" cy="20326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rcRect l="1637"/>
          <a:stretch>
            <a:fillRect/>
          </a:stretch>
        </p:blipFill>
        <p:spPr>
          <a:xfrm>
            <a:off x="1447800" y="1323974"/>
            <a:ext cx="8248728" cy="1238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rcRect l="1637"/>
          <a:stretch>
            <a:fillRect/>
          </a:stretch>
        </p:blipFill>
        <p:spPr>
          <a:xfrm>
            <a:off x="1447800" y="3019425"/>
            <a:ext cx="8248728" cy="122872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rcRect l="1637"/>
          <a:stretch>
            <a:fillRect/>
          </a:stretch>
        </p:blipFill>
        <p:spPr>
          <a:xfrm>
            <a:off x="1447800" y="4705350"/>
            <a:ext cx="8248730" cy="12382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</a:t>
            </a:r>
            <a:r>
              <a:rPr 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결과</a:t>
            </a:r>
            <a:r>
              <a:rPr 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분석</a:t>
            </a:r>
            <a:endParaRPr lang="en-US" sz="2400" dirty="0"/>
          </a:p>
        </p:txBody>
      </p:sp>
      <p:sp>
        <p:nvSpPr>
          <p:cNvPr id="20" name="Text 1"/>
          <p:cNvSpPr/>
          <p:nvPr/>
        </p:nvSpPr>
        <p:spPr>
          <a:xfrm>
            <a:off x="1571625" y="1466849"/>
            <a:ext cx="22630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일관된 성능 우위</a:t>
            </a:r>
            <a:endParaRPr lang="en-US" dirty="0"/>
          </a:p>
        </p:txBody>
      </p:sp>
      <p:sp>
        <p:nvSpPr>
          <p:cNvPr id="21" name="Text 2"/>
          <p:cNvSpPr/>
          <p:nvPr/>
        </p:nvSpPr>
        <p:spPr>
          <a:xfrm>
            <a:off x="1652585" y="1800223"/>
            <a:ext cx="7574855" cy="638175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sz="1600">
                <a:solidFill>
                  <a:srgbClr val="f0f0f0"/>
                </a:solidFill>
                <a:latin typeface="맑은 고딕"/>
                <a:ea typeface="맑은 고딕"/>
                <a:cs typeface="Arial"/>
              </a:rPr>
              <a:t>Cifar100 데이터셋에서 다양한 β 값 조건에서 FedAS가 최첨단 방법론들을 능가</a:t>
            </a:r>
            <a:endParaRPr lang="en-US" sz="1600">
              <a:solidFill>
                <a:srgbClr val="f0f0f0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600">
                <a:solidFill>
                  <a:srgbClr val="f0f0f0"/>
                </a:solidFill>
                <a:latin typeface="맑은 고딕"/>
                <a:cs typeface="Arial"/>
              </a:rPr>
              <a:t>데이터 이질성이 심할</a:t>
            </a:r>
            <a:r>
              <a:rPr lang="ko-KR" altLang="en-US" sz="1600">
                <a:solidFill>
                  <a:srgbClr val="f0f0f0"/>
                </a:solidFill>
                <a:latin typeface="맑은 고딕"/>
                <a:cs typeface="Arial"/>
              </a:rPr>
              <a:t> 때</a:t>
            </a:r>
            <a:r>
              <a:rPr lang="en-US" altLang="ko-KR" sz="1600">
                <a:solidFill>
                  <a:srgbClr val="f0f0f0"/>
                </a:solidFill>
                <a:latin typeface="맑은 고딕"/>
                <a:cs typeface="Arial"/>
              </a:rPr>
              <a:t>(FedAS: β=0.5) 다른 방법론보다 성능 감소가 적음</a:t>
            </a:r>
            <a:endParaRPr lang="en-US" altLang="ko-KR" sz="1600">
              <a:solidFill>
                <a:srgbClr val="f0f0f0"/>
              </a:solidFill>
              <a:latin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sz="1600"/>
          </a:p>
        </p:txBody>
      </p:sp>
      <p:sp>
        <p:nvSpPr>
          <p:cNvPr id="23" name="Text 4"/>
          <p:cNvSpPr/>
          <p:nvPr/>
        </p:nvSpPr>
        <p:spPr>
          <a:xfrm>
            <a:off x="1571625" y="3219450"/>
            <a:ext cx="15807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견고성 분석</a:t>
            </a:r>
            <a:endParaRPr lang="en-US" dirty="0"/>
          </a:p>
        </p:txBody>
      </p:sp>
      <p:sp>
        <p:nvSpPr>
          <p:cNvPr id="24" name="Text 5"/>
          <p:cNvSpPr/>
          <p:nvPr/>
        </p:nvSpPr>
        <p:spPr>
          <a:xfrm>
            <a:off x="1652584" y="3533775"/>
            <a:ext cx="8086501" cy="521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클라이언트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온라인 비율(P)이 낮을수록(FedAS: P=0.2) 성능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감소가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적음</a:t>
            </a: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(stragglers)의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영향을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Client Synchronization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기법으로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완화</a:t>
            </a:r>
            <a:endParaRPr lang="en-US" altLang="ko-KR" sz="1600" dirty="0"/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6" name="Text 7"/>
          <p:cNvSpPr/>
          <p:nvPr/>
        </p:nvSpPr>
        <p:spPr>
          <a:xfrm>
            <a:off x="1571626" y="4865340"/>
            <a:ext cx="33277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Component 유효성 검증</a:t>
            </a:r>
            <a:endParaRPr lang="en-US" dirty="0"/>
          </a:p>
        </p:txBody>
      </p:sp>
      <p:sp>
        <p:nvSpPr>
          <p:cNvPr id="27" name="Text 8"/>
          <p:cNvSpPr/>
          <p:nvPr/>
        </p:nvSpPr>
        <p:spPr>
          <a:xfrm>
            <a:off x="1571626" y="5246340"/>
            <a:ext cx="7874354" cy="581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Parameter Alignment(PA)는 로컬 데이터에 맞춘 모델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적응력을</a:t>
            </a:r>
            <a:r>
              <a:rPr lang="en-US" sz="1600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높임</a:t>
            </a: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Client Synchronization(CS)는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낙오자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영향을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줄이고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활성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클라이언트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기여를</a:t>
            </a:r>
            <a:r>
              <a:rPr lang="en-US" altLang="ko-KR" sz="1600" dirty="0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600" dirty="0" err="1">
                <a:solidFill>
                  <a:srgbClr val="F0F0F0"/>
                </a:solidFill>
                <a:latin typeface="맑은 고딕" panose="020B0503020000020004" pitchFamily="50" charset="-127"/>
                <a:cs typeface="Arial" pitchFamily="34" charset="-120"/>
              </a:rPr>
              <a:t>극대화</a:t>
            </a:r>
            <a:endParaRPr lang="en-US" altLang="ko-KR" sz="1600" dirty="0"/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0F0F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F8325-F7AB-E1AF-0CE1-24B80C25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FFBD6E18-33B1-BCB3-A49C-8FA7C45242A7}"/>
              </a:ext>
            </a:extLst>
          </p:cNvPr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 </a:t>
            </a:r>
            <a:r>
              <a:rPr lang="ko-KR" altLang="en-US" sz="2400" b="1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재구현</a:t>
            </a:r>
            <a:r>
              <a:rPr lang="ko-KR" alt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구성</a:t>
            </a:r>
            <a:endParaRPr lang="en-US" altLang="ko-KR" sz="2400" b="1" dirty="0">
              <a:solidFill>
                <a:srgbClr val="FF6B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0" indent="0">
              <a:lnSpc>
                <a:spcPts val="3600"/>
              </a:lnSpc>
              <a:buNone/>
            </a:pPr>
            <a:endParaRPr lang="en-US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E24DEFF-B915-8A57-8D4D-5B997A123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88523"/>
              </p:ext>
            </p:extLst>
          </p:nvPr>
        </p:nvGraphicFramePr>
        <p:xfrm>
          <a:off x="622808" y="1883614"/>
          <a:ext cx="8414512" cy="32489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79605">
                  <a:extLst>
                    <a:ext uri="{9D8B030D-6E8A-4147-A177-3AD203B41FA5}">
                      <a16:colId xmlns:a16="http://schemas.microsoft.com/office/drawing/2014/main" val="4169007733"/>
                    </a:ext>
                  </a:extLst>
                </a:gridCol>
                <a:gridCol w="6334907">
                  <a:extLst>
                    <a:ext uri="{9D8B030D-6E8A-4147-A177-3AD203B41FA5}">
                      <a16:colId xmlns:a16="http://schemas.microsoft.com/office/drawing/2014/main" val="3352289226"/>
                    </a:ext>
                  </a:extLst>
                </a:gridCol>
              </a:tblGrid>
              <a:tr h="2501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설정값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71897"/>
                  </a:ext>
                </a:extLst>
              </a:tr>
              <a:tr h="2501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OS / </a:t>
                      </a:r>
                      <a:r>
                        <a:rPr lang="ko-KR" altLang="en-US" dirty="0"/>
                        <a:t>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Ubuntu(WSL2) + CUDA </a:t>
                      </a:r>
                      <a:r>
                        <a:rPr lang="ko-KR" altLang="en-US" dirty="0"/>
                        <a:t>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432440"/>
                  </a:ext>
                </a:extLst>
              </a:tr>
              <a:tr h="2501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GPU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RTX 4060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653200"/>
                  </a:ext>
                </a:extLst>
              </a:tr>
              <a:tr h="2501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Python </a:t>
                      </a:r>
                      <a:r>
                        <a:rPr lang="ko-KR" altLang="en-US" dirty="0"/>
                        <a:t>패키지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torch, </a:t>
                      </a:r>
                      <a:r>
                        <a:rPr lang="en-US" altLang="ko-KR" dirty="0" err="1"/>
                        <a:t>torchvision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numpy</a:t>
                      </a:r>
                      <a:r>
                        <a:rPr lang="en-US" altLang="ko-KR" dirty="0"/>
                        <a:t>, h5py, matplotlib </a:t>
                      </a:r>
                      <a:r>
                        <a:rPr lang="ko-KR" altLang="en-US" dirty="0"/>
                        <a:t>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052363"/>
                  </a:ext>
                </a:extLst>
              </a:tr>
              <a:tr h="2501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CIFAR100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5951"/>
                  </a:ext>
                </a:extLst>
              </a:tr>
              <a:tr h="2501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알고리즘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FedAS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dirty="0" err="1"/>
                        <a:t>FedPer</a:t>
                      </a:r>
                      <a:r>
                        <a:rPr lang="en-US" altLang="ko-KR" dirty="0"/>
                        <a:t> (local personalized </a:t>
                      </a:r>
                      <a:r>
                        <a:rPr lang="ko-KR" altLang="en-US" dirty="0"/>
                        <a:t>모드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928212"/>
                  </a:ext>
                </a:extLst>
              </a:tr>
              <a:tr h="4377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실행 옵션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</a:t>
                      </a:r>
                      <a:r>
                        <a:rPr lang="en-US" altLang="ko-KR" dirty="0" err="1"/>
                        <a:t>wo_global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플래그를 붙여서 </a:t>
                      </a:r>
                      <a:r>
                        <a:rPr lang="en-US" altLang="ko-KR" dirty="0"/>
                        <a:t>local personalized </a:t>
                      </a:r>
                      <a:r>
                        <a:rPr lang="ko-KR" altLang="en-US" dirty="0"/>
                        <a:t>평가 모드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862187"/>
                  </a:ext>
                </a:extLst>
              </a:tr>
              <a:tr h="4142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비교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‘</a:t>
                      </a:r>
                      <a:r>
                        <a:rPr lang="en-US" altLang="ko-KR" dirty="0"/>
                        <a:t>local personalized </a:t>
                      </a:r>
                      <a:r>
                        <a:rPr lang="ko-KR" altLang="en-US" dirty="0"/>
                        <a:t>테스트 정확도’ 라운드별 변화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17086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EA98D41-1DBC-2513-FC5E-F4E5BDA37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785605"/>
              </p:ext>
            </p:extLst>
          </p:nvPr>
        </p:nvGraphicFramePr>
        <p:xfrm>
          <a:off x="9462008" y="1883614"/>
          <a:ext cx="2348992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2554">
                  <a:extLst>
                    <a:ext uri="{9D8B030D-6E8A-4147-A177-3AD203B41FA5}">
                      <a16:colId xmlns:a16="http://schemas.microsoft.com/office/drawing/2014/main" val="3992203352"/>
                    </a:ext>
                  </a:extLst>
                </a:gridCol>
                <a:gridCol w="906438">
                  <a:extLst>
                    <a:ext uri="{9D8B030D-6E8A-4147-A177-3AD203B41FA5}">
                      <a16:colId xmlns:a16="http://schemas.microsoft.com/office/drawing/2014/main" val="2404583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clients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50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join ratio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44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local epoch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68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Batch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4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Rounds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05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CNN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573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858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B2B16-7306-2E8D-F1B4-56C519DE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4FA0DD2A-F033-C578-5BBA-3EED1DDCFBB1}"/>
              </a:ext>
            </a:extLst>
          </p:cNvPr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 </a:t>
            </a:r>
            <a:r>
              <a:rPr lang="ko-KR" altLang="en-US" sz="2400" b="1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재구현</a:t>
            </a:r>
            <a:r>
              <a:rPr lang="ko-KR" alt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구성</a:t>
            </a:r>
            <a:endParaRPr lang="en-US" altLang="ko-KR" sz="2400" b="1" dirty="0">
              <a:solidFill>
                <a:srgbClr val="FF6B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0" indent="0">
              <a:lnSpc>
                <a:spcPts val="3600"/>
              </a:lnSpc>
              <a:buNone/>
            </a:pPr>
            <a:endParaRPr 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96D8FFF-1D41-3D59-7A18-B68AB7DB5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152372"/>
              </p:ext>
            </p:extLst>
          </p:nvPr>
        </p:nvGraphicFramePr>
        <p:xfrm>
          <a:off x="2466848" y="1641856"/>
          <a:ext cx="3093720" cy="4348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0306">
                  <a:extLst>
                    <a:ext uri="{9D8B030D-6E8A-4147-A177-3AD203B41FA5}">
                      <a16:colId xmlns:a16="http://schemas.microsoft.com/office/drawing/2014/main" val="2255543884"/>
                    </a:ext>
                  </a:extLst>
                </a:gridCol>
                <a:gridCol w="1593414">
                  <a:extLst>
                    <a:ext uri="{9D8B030D-6E8A-4147-A177-3AD203B41FA5}">
                      <a16:colId xmlns:a16="http://schemas.microsoft.com/office/drawing/2014/main" val="2082918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FedAS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FedAvg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01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-did 0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-did 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52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-data Cifar100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-data Cifar100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026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-m </a:t>
                      </a:r>
                      <a:r>
                        <a:rPr lang="en-US" altLang="ko-KR" dirty="0" err="1"/>
                        <a:t>cnn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-m </a:t>
                      </a:r>
                      <a:r>
                        <a:rPr lang="en-US" altLang="ko-KR" dirty="0" err="1"/>
                        <a:t>cnn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1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nb</a:t>
                      </a:r>
                      <a:r>
                        <a:rPr lang="en-US" altLang="ko-KR" dirty="0"/>
                        <a:t> 100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nb</a:t>
                      </a:r>
                      <a:r>
                        <a:rPr lang="en-US" altLang="ko-KR" dirty="0"/>
                        <a:t> 100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039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lbs</a:t>
                      </a:r>
                      <a:r>
                        <a:rPr lang="en-US" altLang="ko-KR" dirty="0"/>
                        <a:t> 16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lbs</a:t>
                      </a:r>
                      <a:r>
                        <a:rPr lang="en-US" altLang="ko-KR" dirty="0"/>
                        <a:t> 16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14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-gr 40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-gr 40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6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-ls 5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-ls 5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25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jr</a:t>
                      </a:r>
                      <a:r>
                        <a:rPr lang="en-US" altLang="ko-KR" dirty="0"/>
                        <a:t> 0.1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jr</a:t>
                      </a:r>
                      <a:r>
                        <a:rPr lang="en-US" altLang="ko-KR" dirty="0"/>
                        <a:t> 0.1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136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nc</a:t>
                      </a:r>
                      <a:r>
                        <a:rPr lang="en-US" altLang="ko-KR" dirty="0"/>
                        <a:t> 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nc</a:t>
                      </a:r>
                      <a:r>
                        <a:rPr lang="en-US" altLang="ko-KR" dirty="0"/>
                        <a:t> 20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97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--</a:t>
                      </a:r>
                      <a:r>
                        <a:rPr lang="en-US" altLang="ko-KR" dirty="0" err="1"/>
                        <a:t>wo_global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</a:t>
                      </a:r>
                      <a:r>
                        <a:rPr lang="en-US" altLang="ko-KR" dirty="0" err="1"/>
                        <a:t>wo_global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5237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9270792-CFCD-DF67-E996-673B4D39E295}"/>
              </a:ext>
            </a:extLst>
          </p:cNvPr>
          <p:cNvSpPr txBox="1"/>
          <p:nvPr/>
        </p:nvSpPr>
        <p:spPr>
          <a:xfrm>
            <a:off x="2402840" y="1160272"/>
            <a:ext cx="88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6600"/>
                </a:solidFill>
              </a:rPr>
              <a:t>Global</a:t>
            </a:r>
            <a:endParaRPr lang="ko-KR" altLang="en-US" b="1" dirty="0">
              <a:solidFill>
                <a:srgbClr val="FF6600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3CE7D75-2763-638C-AFD7-8E8C83BAF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527277"/>
              </p:ext>
            </p:extLst>
          </p:nvPr>
        </p:nvGraphicFramePr>
        <p:xfrm>
          <a:off x="6160008" y="1641856"/>
          <a:ext cx="3093720" cy="4348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0306">
                  <a:extLst>
                    <a:ext uri="{9D8B030D-6E8A-4147-A177-3AD203B41FA5}">
                      <a16:colId xmlns:a16="http://schemas.microsoft.com/office/drawing/2014/main" val="2255543884"/>
                    </a:ext>
                  </a:extLst>
                </a:gridCol>
                <a:gridCol w="1593414">
                  <a:extLst>
                    <a:ext uri="{9D8B030D-6E8A-4147-A177-3AD203B41FA5}">
                      <a16:colId xmlns:a16="http://schemas.microsoft.com/office/drawing/2014/main" val="2082918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FedAS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FedPer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01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-did 0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-did 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52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-data Cifar100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-data Cifar100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026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-m </a:t>
                      </a:r>
                      <a:r>
                        <a:rPr lang="en-US" altLang="ko-KR" dirty="0" err="1"/>
                        <a:t>cnn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-m </a:t>
                      </a:r>
                      <a:r>
                        <a:rPr lang="en-US" altLang="ko-KR" dirty="0" err="1"/>
                        <a:t>cnn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1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nb</a:t>
                      </a:r>
                      <a:r>
                        <a:rPr lang="en-US" altLang="ko-KR" dirty="0"/>
                        <a:t> 100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nb</a:t>
                      </a:r>
                      <a:r>
                        <a:rPr lang="en-US" altLang="ko-KR" dirty="0"/>
                        <a:t> 100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039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lbs</a:t>
                      </a:r>
                      <a:r>
                        <a:rPr lang="en-US" altLang="ko-KR" dirty="0"/>
                        <a:t> 16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lbs</a:t>
                      </a:r>
                      <a:r>
                        <a:rPr lang="en-US" altLang="ko-KR" dirty="0"/>
                        <a:t> 16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14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-gr 40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-gr 40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6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-ls 5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-ls 5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25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jr</a:t>
                      </a:r>
                      <a:r>
                        <a:rPr lang="en-US" altLang="ko-KR" dirty="0"/>
                        <a:t> 0.1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jr</a:t>
                      </a:r>
                      <a:r>
                        <a:rPr lang="en-US" altLang="ko-KR" dirty="0"/>
                        <a:t> 0.1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136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nc</a:t>
                      </a:r>
                      <a:r>
                        <a:rPr lang="en-US" altLang="ko-KR" dirty="0"/>
                        <a:t> 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nc</a:t>
                      </a:r>
                      <a:r>
                        <a:rPr lang="en-US" altLang="ko-KR" dirty="0"/>
                        <a:t> 20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97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--</a:t>
                      </a:r>
                      <a:r>
                        <a:rPr lang="en-US" altLang="ko-KR" dirty="0" err="1"/>
                        <a:t>wo_global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</a:t>
                      </a:r>
                      <a:r>
                        <a:rPr lang="en-US" altLang="ko-KR" dirty="0" err="1"/>
                        <a:t>wo_global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5237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A61EA6-66FA-ED93-88D0-4CE3AB2052D7}"/>
              </a:ext>
            </a:extLst>
          </p:cNvPr>
          <p:cNvSpPr txBox="1"/>
          <p:nvPr/>
        </p:nvSpPr>
        <p:spPr>
          <a:xfrm>
            <a:off x="6096000" y="116027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6600"/>
                </a:solidFill>
              </a:rPr>
              <a:t>Local</a:t>
            </a:r>
            <a:endParaRPr lang="ko-KR" altLang="en-US" b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001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5AE26-CE98-07BC-3A3D-DE1953EB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BF6BE82D-AC77-5D8D-BDF6-74979885CE0C}"/>
              </a:ext>
            </a:extLst>
          </p:cNvPr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 </a:t>
            </a:r>
            <a:r>
              <a:rPr lang="ko-KR" altLang="en-US" sz="2400" b="1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재구현</a:t>
            </a:r>
            <a:r>
              <a:rPr lang="ko-KR" alt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결과</a:t>
            </a:r>
            <a:endParaRPr lang="en-US" altLang="ko-KR" sz="2400" b="1" dirty="0">
              <a:solidFill>
                <a:srgbClr val="FF6B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0" indent="0">
              <a:lnSpc>
                <a:spcPts val="3600"/>
              </a:lnSpc>
              <a:buNone/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11D91-7CC5-D4C8-CD13-540137E4DAE9}"/>
              </a:ext>
            </a:extLst>
          </p:cNvPr>
          <p:cNvSpPr txBox="1"/>
          <p:nvPr/>
        </p:nvSpPr>
        <p:spPr>
          <a:xfrm>
            <a:off x="308864" y="1455928"/>
            <a:ext cx="88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6600"/>
                </a:solidFill>
              </a:rPr>
              <a:t>Global</a:t>
            </a:r>
            <a:endParaRPr lang="ko-KR" altLang="en-US" b="1" dirty="0">
              <a:solidFill>
                <a:srgbClr val="FF66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546C9-279A-44DA-3992-A1547FAD3915}"/>
              </a:ext>
            </a:extLst>
          </p:cNvPr>
          <p:cNvSpPr txBox="1"/>
          <p:nvPr/>
        </p:nvSpPr>
        <p:spPr>
          <a:xfrm>
            <a:off x="6033312" y="1455928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6600"/>
                </a:solidFill>
              </a:rPr>
              <a:t>Local</a:t>
            </a:r>
            <a:endParaRPr lang="ko-KR" altLang="en-US" b="1" dirty="0">
              <a:solidFill>
                <a:srgbClr val="FF66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13846C-186C-BAEB-5ABE-A4EB64D9C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52"/>
          <a:stretch>
            <a:fillRect/>
          </a:stretch>
        </p:blipFill>
        <p:spPr>
          <a:xfrm>
            <a:off x="6054648" y="1979846"/>
            <a:ext cx="5756352" cy="32918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F9A74D5-F6B0-0E2A-319B-62F9E574B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64" y="1979846"/>
            <a:ext cx="548640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75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00B06-5EFE-0E8F-5695-152B6C1B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3F4F08C5-8E17-A212-800F-488F04E5C9B5}"/>
              </a:ext>
            </a:extLst>
          </p:cNvPr>
          <p:cNvSpPr/>
          <p:nvPr/>
        </p:nvSpPr>
        <p:spPr>
          <a:xfrm>
            <a:off x="381000" y="381000"/>
            <a:ext cx="468477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추가 데이터셋 실험 결과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56794F-FDA3-AA62-7FE3-6327C2705610}"/>
              </a:ext>
            </a:extLst>
          </p:cNvPr>
          <p:cNvSpPr txBox="1"/>
          <p:nvPr/>
        </p:nvSpPr>
        <p:spPr>
          <a:xfrm>
            <a:off x="502920" y="1133856"/>
            <a:ext cx="864063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FF6600"/>
                </a:solidFill>
              </a:rPr>
              <a:t>데이터 셋</a:t>
            </a:r>
            <a:endParaRPr lang="en-US" altLang="ko-KR" sz="1400" b="1" dirty="0">
              <a:solidFill>
                <a:srgbClr val="FF6600"/>
              </a:solidFill>
            </a:endParaRPr>
          </a:p>
          <a:p>
            <a:r>
              <a:rPr lang="en-US" altLang="ko-KR" sz="1400" dirty="0" err="1">
                <a:solidFill>
                  <a:schemeClr val="bg1"/>
                </a:solidFill>
              </a:rPr>
              <a:t>TinyCifar</a:t>
            </a:r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en-US" sz="1400" b="1" dirty="0">
                <a:solidFill>
                  <a:srgbClr val="FF6600"/>
                </a:solidFill>
              </a:rPr>
              <a:t>명령어</a:t>
            </a:r>
            <a:endParaRPr lang="en-US" altLang="ko-KR" sz="1400" b="1" dirty="0">
              <a:solidFill>
                <a:srgbClr val="FF6600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python3 main.py -did 0 -data </a:t>
            </a:r>
            <a:r>
              <a:rPr lang="en-US" altLang="ko-KR" sz="1400" dirty="0" err="1">
                <a:solidFill>
                  <a:schemeClr val="bg1"/>
                </a:solidFill>
              </a:rPr>
              <a:t>TinyCifar</a:t>
            </a:r>
            <a:r>
              <a:rPr lang="en-US" altLang="ko-KR" sz="1400" dirty="0">
                <a:solidFill>
                  <a:schemeClr val="bg1"/>
                </a:solidFill>
              </a:rPr>
              <a:t> -</a:t>
            </a:r>
            <a:r>
              <a:rPr lang="en-US" altLang="ko-KR" sz="1400" dirty="0" err="1">
                <a:solidFill>
                  <a:schemeClr val="bg1"/>
                </a:solidFill>
              </a:rPr>
              <a:t>nb</a:t>
            </a:r>
            <a:r>
              <a:rPr lang="en-US" altLang="ko-KR" sz="1400" dirty="0">
                <a:solidFill>
                  <a:schemeClr val="bg1"/>
                </a:solidFill>
              </a:rPr>
              <a:t> 200 -m </a:t>
            </a:r>
            <a:r>
              <a:rPr lang="en-US" altLang="ko-KR" sz="1400" dirty="0" err="1">
                <a:solidFill>
                  <a:schemeClr val="bg1"/>
                </a:solidFill>
              </a:rPr>
              <a:t>cnn</a:t>
            </a:r>
            <a:r>
              <a:rPr lang="en-US" altLang="ko-KR" sz="1400" dirty="0">
                <a:solidFill>
                  <a:schemeClr val="bg1"/>
                </a:solidFill>
              </a:rPr>
              <a:t> -</a:t>
            </a:r>
            <a:r>
              <a:rPr lang="en-US" altLang="ko-KR" sz="1400" dirty="0" err="1">
                <a:solidFill>
                  <a:schemeClr val="bg1"/>
                </a:solidFill>
              </a:rPr>
              <a:t>lbs</a:t>
            </a:r>
            <a:r>
              <a:rPr lang="en-US" altLang="ko-KR" sz="1400" dirty="0">
                <a:solidFill>
                  <a:schemeClr val="bg1"/>
                </a:solidFill>
              </a:rPr>
              <a:t> 16 -gr 40 -ls 5 -algo </a:t>
            </a:r>
            <a:r>
              <a:rPr lang="en-US" altLang="ko-KR" sz="1400" dirty="0" err="1">
                <a:solidFill>
                  <a:schemeClr val="bg1"/>
                </a:solidFill>
              </a:rPr>
              <a:t>FedAS</a:t>
            </a:r>
            <a:r>
              <a:rPr lang="en-US" altLang="ko-KR" sz="1400" dirty="0">
                <a:solidFill>
                  <a:schemeClr val="bg1"/>
                </a:solidFill>
              </a:rPr>
              <a:t> -</a:t>
            </a:r>
            <a:r>
              <a:rPr lang="en-US" altLang="ko-KR" sz="1400" dirty="0" err="1">
                <a:solidFill>
                  <a:schemeClr val="bg1"/>
                </a:solidFill>
              </a:rPr>
              <a:t>jr</a:t>
            </a:r>
            <a:r>
              <a:rPr lang="en-US" altLang="ko-KR" sz="1400" dirty="0">
                <a:solidFill>
                  <a:schemeClr val="bg1"/>
                </a:solidFill>
              </a:rPr>
              <a:t> 0.1 -</a:t>
            </a:r>
            <a:r>
              <a:rPr lang="en-US" altLang="ko-KR" sz="1400" dirty="0" err="1">
                <a:solidFill>
                  <a:schemeClr val="bg1"/>
                </a:solidFill>
              </a:rPr>
              <a:t>nc</a:t>
            </a:r>
            <a:r>
              <a:rPr lang="en-US" altLang="ko-KR" sz="1400" dirty="0">
                <a:solidFill>
                  <a:schemeClr val="bg1"/>
                </a:solidFill>
              </a:rPr>
              <a:t> 20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python3 main.py -did 0 -data </a:t>
            </a:r>
            <a:r>
              <a:rPr lang="en-US" altLang="ko-KR" sz="1400" dirty="0" err="1">
                <a:solidFill>
                  <a:schemeClr val="bg1"/>
                </a:solidFill>
              </a:rPr>
              <a:t>TinyCifar</a:t>
            </a:r>
            <a:r>
              <a:rPr lang="en-US" altLang="ko-KR" sz="1400" dirty="0">
                <a:solidFill>
                  <a:schemeClr val="bg1"/>
                </a:solidFill>
              </a:rPr>
              <a:t> -</a:t>
            </a:r>
            <a:r>
              <a:rPr lang="en-US" altLang="ko-KR" sz="1400" dirty="0" err="1">
                <a:solidFill>
                  <a:schemeClr val="bg1"/>
                </a:solidFill>
              </a:rPr>
              <a:t>nb</a:t>
            </a:r>
            <a:r>
              <a:rPr lang="en-US" altLang="ko-KR" sz="1400" dirty="0">
                <a:solidFill>
                  <a:schemeClr val="bg1"/>
                </a:solidFill>
              </a:rPr>
              <a:t> 200 -m </a:t>
            </a:r>
            <a:r>
              <a:rPr lang="en-US" altLang="ko-KR" sz="1400" dirty="0" err="1">
                <a:solidFill>
                  <a:schemeClr val="bg1"/>
                </a:solidFill>
              </a:rPr>
              <a:t>cnn</a:t>
            </a:r>
            <a:r>
              <a:rPr lang="en-US" altLang="ko-KR" sz="1400" dirty="0">
                <a:solidFill>
                  <a:schemeClr val="bg1"/>
                </a:solidFill>
              </a:rPr>
              <a:t> -</a:t>
            </a:r>
            <a:r>
              <a:rPr lang="en-US" altLang="ko-KR" sz="1400" dirty="0" err="1">
                <a:solidFill>
                  <a:schemeClr val="bg1"/>
                </a:solidFill>
              </a:rPr>
              <a:t>lbs</a:t>
            </a:r>
            <a:r>
              <a:rPr lang="en-US" altLang="ko-KR" sz="1400" dirty="0">
                <a:solidFill>
                  <a:schemeClr val="bg1"/>
                </a:solidFill>
              </a:rPr>
              <a:t> 16 -gr 40 -ls 5 -algo </a:t>
            </a:r>
            <a:r>
              <a:rPr lang="en-US" altLang="ko-KR" sz="1400" dirty="0" err="1">
                <a:solidFill>
                  <a:schemeClr val="bg1"/>
                </a:solidFill>
              </a:rPr>
              <a:t>FedAvg</a:t>
            </a:r>
            <a:r>
              <a:rPr lang="en-US" altLang="ko-KR" sz="1400" dirty="0">
                <a:solidFill>
                  <a:schemeClr val="bg1"/>
                </a:solidFill>
              </a:rPr>
              <a:t> -</a:t>
            </a:r>
            <a:r>
              <a:rPr lang="en-US" altLang="ko-KR" sz="1400" dirty="0" err="1">
                <a:solidFill>
                  <a:schemeClr val="bg1"/>
                </a:solidFill>
              </a:rPr>
              <a:t>jr</a:t>
            </a:r>
            <a:r>
              <a:rPr lang="en-US" altLang="ko-KR" sz="1400" dirty="0">
                <a:solidFill>
                  <a:schemeClr val="bg1"/>
                </a:solidFill>
              </a:rPr>
              <a:t> 0.1 -</a:t>
            </a:r>
            <a:r>
              <a:rPr lang="en-US" altLang="ko-KR" sz="1400" dirty="0" err="1">
                <a:solidFill>
                  <a:schemeClr val="bg1"/>
                </a:solidFill>
              </a:rPr>
              <a:t>nc</a:t>
            </a:r>
            <a:r>
              <a:rPr lang="en-US" altLang="ko-KR" sz="1400" dirty="0">
                <a:solidFill>
                  <a:schemeClr val="bg1"/>
                </a:solidFill>
              </a:rPr>
              <a:t> 20</a:t>
            </a: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en-US" sz="1400" dirty="0">
                <a:solidFill>
                  <a:schemeClr val="bg1"/>
                </a:solidFill>
              </a:rPr>
              <a:t>글로벌에서 수행함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pic>
        <p:nvPicPr>
          <p:cNvPr id="3" name="그림 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FB13A0-FB5F-F9E3-787B-54E5D91F5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76" y="2949738"/>
            <a:ext cx="6050280" cy="363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69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A1AD5-A513-1EC2-38F9-BF45B717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92F7EFD8-135B-8B88-6148-FFD63CCF7C4B}"/>
              </a:ext>
            </a:extLst>
          </p:cNvPr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실험비교 및 종합분석</a:t>
            </a:r>
            <a:endParaRPr lang="en-US" sz="2400" dirty="0"/>
          </a:p>
        </p:txBody>
      </p:sp>
      <p:pic>
        <p:nvPicPr>
          <p:cNvPr id="2" name="그림 1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AAEFCA-61C3-7748-3646-D6B8D5F78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654330"/>
            <a:ext cx="5486400" cy="329184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25485AB-79E4-B841-CFA0-17BCC7712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1" y="1654331"/>
            <a:ext cx="5486400" cy="3291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784709-CEE7-6F22-5C30-A7372E1C93C6}"/>
              </a:ext>
            </a:extLst>
          </p:cNvPr>
          <p:cNvSpPr txBox="1"/>
          <p:nvPr/>
        </p:nvSpPr>
        <p:spPr>
          <a:xfrm>
            <a:off x="381000" y="5223748"/>
            <a:ext cx="1166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FedAvg</a:t>
            </a:r>
            <a:r>
              <a:rPr lang="ko-KR" altLang="en-US" dirty="0">
                <a:solidFill>
                  <a:schemeClr val="bg1"/>
                </a:solidFill>
              </a:rPr>
              <a:t>가 더 뛰어났던 글로벌 환경에서 다른 데이터 셋으로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해당 실험을 수행했을 때 안정적인 정확도를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보장</a:t>
            </a:r>
          </a:p>
        </p:txBody>
      </p:sp>
    </p:spTree>
    <p:extLst>
      <p:ext uri="{BB962C8B-B14F-4D97-AF65-F5344CB8AC3E}">
        <p14:creationId xmlns:p14="http://schemas.microsoft.com/office/powerpoint/2010/main" val="1381271083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ED0DB058-0306-79E5-3BBF-121B02AE99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44"/>
          <a:stretch>
            <a:fillRect/>
          </a:stretch>
        </p:blipFill>
        <p:spPr>
          <a:xfrm>
            <a:off x="1040846" y="3371850"/>
            <a:ext cx="5011409" cy="19812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F04A9D9-AF1B-33D2-9650-A5259784C7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44"/>
          <a:stretch>
            <a:fillRect/>
          </a:stretch>
        </p:blipFill>
        <p:spPr>
          <a:xfrm>
            <a:off x="6357061" y="1089025"/>
            <a:ext cx="5011409" cy="1981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714146F-6C48-B9B4-E4B2-066AD32725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44"/>
          <a:stretch>
            <a:fillRect/>
          </a:stretch>
        </p:blipFill>
        <p:spPr>
          <a:xfrm>
            <a:off x="6357061" y="3346450"/>
            <a:ext cx="5011409" cy="1981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6"/>
          <a:srcRect l="18244"/>
          <a:stretch>
            <a:fillRect/>
          </a:stretch>
        </p:blipFill>
        <p:spPr>
          <a:xfrm>
            <a:off x="1040846" y="1104900"/>
            <a:ext cx="5011409" cy="1981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연구의 핵심 기여점</a:t>
            </a:r>
            <a:endParaRPr lang="en-US" sz="2400" dirty="0"/>
          </a:p>
        </p:txBody>
      </p:sp>
      <p:sp>
        <p:nvSpPr>
          <p:cNvPr id="17" name="Text 1"/>
          <p:cNvSpPr/>
          <p:nvPr/>
        </p:nvSpPr>
        <p:spPr>
          <a:xfrm>
            <a:off x="1295399" y="1333500"/>
            <a:ext cx="43692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불일치 문제 식별</a:t>
            </a:r>
            <a:endParaRPr lang="en-US" sz="1600" dirty="0">
              <a:solidFill>
                <a:srgbClr val="FF6B35"/>
              </a:solidFill>
            </a:endParaRPr>
          </a:p>
        </p:txBody>
      </p:sp>
      <p:sp>
        <p:nvSpPr>
          <p:cNvPr id="18" name="Text 2"/>
          <p:cNvSpPr/>
          <p:nvPr/>
        </p:nvSpPr>
        <p:spPr>
          <a:xfrm>
            <a:off x="1250394" y="1733550"/>
            <a:ext cx="4782067" cy="1358899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sz="1400">
                <a:solidFill>
                  <a:schemeClr val="bg1"/>
                </a:solidFill>
                <a:latin typeface="맑은 고딕"/>
                <a:ea typeface="맑은 고딕"/>
                <a:cs typeface="Arial"/>
              </a:rPr>
              <a:t>클라이언트 내부 불일치 문제 식별</a:t>
            </a:r>
            <a:endParaRPr lang="en-US" sz="1400">
              <a:solidFill>
                <a:schemeClr val="bg1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sz="1400">
              <a:solidFill>
                <a:schemeClr val="bg1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ko-KR" altLang="en-US" sz="1400">
                <a:solidFill>
                  <a:schemeClr val="bg1"/>
                </a:solidFill>
                <a:latin typeface="맑은 고딕"/>
                <a:cs typeface="Arial"/>
              </a:rPr>
              <a:t>클라이언트 간 불일치 문제 식별</a:t>
            </a:r>
            <a:endParaRPr lang="ko-KR" altLang="en-US" sz="1400">
              <a:solidFill>
                <a:schemeClr val="bg1"/>
              </a:solidFill>
              <a:latin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altLang="ko-KR" sz="1400">
              <a:solidFill>
                <a:schemeClr val="bg1"/>
              </a:solidFill>
              <a:latin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ko-KR" altLang="en-US" sz="1400">
                <a:solidFill>
                  <a:schemeClr val="bg1"/>
                </a:solidFill>
                <a:latin typeface="맑은 고딕"/>
                <a:cs typeface="Arial"/>
              </a:rPr>
              <a:t>비동기적 파라미터 업데이트로 인한 성능 저하 원인 분석</a:t>
            </a:r>
            <a:endParaRPr lang="ko-KR" altLang="en-US" sz="1400">
              <a:solidFill>
                <a:schemeClr val="bg1"/>
              </a:solidFill>
              <a:latin typeface="맑은 고딕"/>
              <a:cs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578756" y="1308100"/>
            <a:ext cx="41197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FedAS 프레임워크 제안</a:t>
            </a:r>
            <a:endParaRPr lang="en-US" sz="1600" dirty="0">
              <a:solidFill>
                <a:srgbClr val="FF6B35"/>
              </a:solidFill>
            </a:endParaRPr>
          </a:p>
        </p:txBody>
      </p:sp>
      <p:sp>
        <p:nvSpPr>
          <p:cNvPr id="22" name="Text 6"/>
          <p:cNvSpPr/>
          <p:nvPr/>
        </p:nvSpPr>
        <p:spPr>
          <a:xfrm>
            <a:off x="6578756" y="1727200"/>
            <a:ext cx="4493042" cy="990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매개변수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정렬(Parameter Alignment)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기법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개발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클라이언트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동기화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(Client Synchronization)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기법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개발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피셔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정보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행렬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(FIM)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기반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가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중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치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집계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메커니즘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설계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9"/>
          <p:cNvSpPr/>
          <p:nvPr/>
        </p:nvSpPr>
        <p:spPr>
          <a:xfrm>
            <a:off x="1295400" y="3543300"/>
            <a:ext cx="36093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기술적 해결책</a:t>
            </a:r>
            <a:endParaRPr lang="en-US" sz="1600" dirty="0">
              <a:solidFill>
                <a:srgbClr val="FF6B35"/>
              </a:solidFill>
            </a:endParaRPr>
          </a:p>
        </p:txBody>
      </p:sp>
      <p:sp>
        <p:nvSpPr>
          <p:cNvPr id="26" name="Text 10"/>
          <p:cNvSpPr/>
          <p:nvPr/>
        </p:nvSpPr>
        <p:spPr>
          <a:xfrm>
            <a:off x="1295399" y="3886199"/>
            <a:ext cx="4369249" cy="1076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로컬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지식을 전역 모델에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주입하여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정렬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t-FIM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값을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활용한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클라이언트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중요도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측정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낙오자의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부정적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영향을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완화하는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가중치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집계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 13"/>
          <p:cNvSpPr/>
          <p:nvPr/>
        </p:nvSpPr>
        <p:spPr>
          <a:xfrm>
            <a:off x="6578755" y="3517900"/>
            <a:ext cx="39892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실험적 검증</a:t>
            </a:r>
            <a:endParaRPr lang="en-US" sz="1600" dirty="0">
              <a:solidFill>
                <a:srgbClr val="FF6B35"/>
              </a:solidFill>
            </a:endParaRPr>
          </a:p>
        </p:txBody>
      </p:sp>
      <p:sp>
        <p:nvSpPr>
          <p:cNvPr id="30" name="Text 14"/>
          <p:cNvSpPr/>
          <p:nvPr/>
        </p:nvSpPr>
        <p:spPr>
          <a:xfrm>
            <a:off x="6578756" y="3860800"/>
            <a:ext cx="4388795" cy="10763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다양한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데이터 이질성 조건에서의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실험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수행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Cifar10 및 Cifar100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데이터셋을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통한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성능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평가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기존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최첨단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방법론보다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일관되게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우수한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성능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입증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3" name="Text 17"/>
          <p:cNvSpPr/>
          <p:nvPr/>
        </p:nvSpPr>
        <p:spPr>
          <a:xfrm>
            <a:off x="2266950" y="5581648"/>
            <a:ext cx="7338983" cy="5715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FedAS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는 개인화 연합 학습의 효율성과 견고성을 크게 향상시켜
</a:t>
            </a:r>
            <a:r>
              <a:rPr 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데이터 이질성과 낙오자 문제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를 효과적으로 해결합니다.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rcRect l="1958" t="-806" r="-694" b="806"/>
          <a:stretch>
            <a:fillRect/>
          </a:stretch>
        </p:blipFill>
        <p:spPr>
          <a:xfrm>
            <a:off x="762400" y="2067832"/>
            <a:ext cx="5141868" cy="1181100"/>
          </a:xfrm>
          <a:prstGeom prst="rect">
            <a:avLst/>
          </a:prstGeom>
        </p:spPr>
      </p:pic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FF7D0051-6D13-8BBF-AAB9-D119108AF8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8" t="-806" r="-694" b="806"/>
          <a:stretch>
            <a:fillRect/>
          </a:stretch>
        </p:blipFill>
        <p:spPr>
          <a:xfrm>
            <a:off x="6340930" y="2067832"/>
            <a:ext cx="4896938" cy="118110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BE7A2C2-2419-0E66-D95F-243856A4C8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58" t="-806" r="-694" b="806"/>
          <a:stretch>
            <a:fillRect/>
          </a:stretch>
        </p:blipFill>
        <p:spPr>
          <a:xfrm>
            <a:off x="762400" y="3525157"/>
            <a:ext cx="5141868" cy="1181100"/>
          </a:xfrm>
          <a:prstGeom prst="rect">
            <a:avLst/>
          </a:prstGeom>
        </p:spPr>
      </p:pic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C5B95098-00AB-6C86-1CEF-AB45A3827F5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58" t="-806" r="-694" b="806"/>
          <a:stretch>
            <a:fillRect/>
          </a:stretch>
        </p:blipFill>
        <p:spPr>
          <a:xfrm>
            <a:off x="6386114" y="3525157"/>
            <a:ext cx="4896938" cy="11811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한계점 및 향후 연구 방향</a:t>
            </a:r>
            <a:endParaRPr lang="en-US" sz="2400" dirty="0"/>
          </a:p>
        </p:txBody>
      </p:sp>
      <p:sp>
        <p:nvSpPr>
          <p:cNvPr id="20" name="Text 1"/>
          <p:cNvSpPr/>
          <p:nvPr/>
        </p:nvSpPr>
        <p:spPr>
          <a:xfrm>
            <a:off x="799012" y="1620157"/>
            <a:ext cx="2624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현재 연구의 한계점</a:t>
            </a:r>
            <a:endParaRPr lang="en-US" sz="2000" dirty="0"/>
          </a:p>
        </p:txBody>
      </p:sp>
      <p:sp>
        <p:nvSpPr>
          <p:cNvPr id="21" name="Text 2"/>
          <p:cNvSpPr/>
          <p:nvPr/>
        </p:nvSpPr>
        <p:spPr>
          <a:xfrm>
            <a:off x="1199062" y="2220232"/>
            <a:ext cx="48969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computational overhead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3"/>
          <p:cNvSpPr/>
          <p:nvPr/>
        </p:nvSpPr>
        <p:spPr>
          <a:xfrm>
            <a:off x="922837" y="2563131"/>
            <a:ext cx="4664321" cy="676275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ko-KR" altLang="en-US" sz="1400">
                <a:solidFill>
                  <a:schemeClr val="bg1"/>
                </a:solidFill>
                <a:latin typeface="맑은 고딕"/>
                <a:ea typeface="맑은 고딕"/>
                <a:cs typeface="Arial"/>
              </a:rPr>
              <a:t>파라미터</a:t>
            </a:r>
            <a:r>
              <a:rPr lang="en-US" sz="1400">
                <a:solidFill>
                  <a:schemeClr val="bg1"/>
                </a:solidFill>
                <a:latin typeface="맑은 고딕"/>
                <a:ea typeface="맑은 고딕"/>
                <a:cs typeface="Arial"/>
              </a:rPr>
              <a:t> 정렬 기법은 추가적인 계산 비용을 요구</a:t>
            </a:r>
            <a:endParaRPr lang="en-US" sz="1400">
              <a:solidFill>
                <a:schemeClr val="bg1"/>
              </a:solidFill>
              <a:latin typeface="맑은 고딕"/>
              <a:ea typeface="맑은 고딕"/>
              <a:cs typeface="Arial"/>
            </a:endParaRPr>
          </a:p>
          <a:p>
            <a:pPr marL="171450" lvl="0" indent="-171450">
              <a:lnSpc>
                <a:spcPts val="1800"/>
              </a:lnSpc>
              <a:buSzPct val="100000"/>
              <a:buFont typeface="Arial"/>
              <a:buChar char="•"/>
              <a:defRPr/>
            </a:pPr>
            <a:r>
              <a:rPr lang="en-US" altLang="ko-KR" sz="1400">
                <a:solidFill>
                  <a:schemeClr val="bg1"/>
                </a:solidFill>
                <a:latin typeface="맑은 고딕"/>
                <a:cs typeface="Arial"/>
              </a:rPr>
              <a:t>로컬 데이터에 대한 특징 임베딩 생성 과정의 효율성 문제</a:t>
            </a:r>
            <a:endParaRPr lang="en-US" altLang="ko-KR" sz="1400">
              <a:solidFill>
                <a:schemeClr val="bg1"/>
              </a:solidFill>
              <a:latin typeface="맑은 고딕"/>
              <a:cs typeface="Arial"/>
            </a:endParaRPr>
          </a:p>
          <a:p>
            <a:pPr marL="171450" lvl="0" indent="-171450" algn="l">
              <a:lnSpc>
                <a:spcPts val="1800"/>
              </a:lnSpc>
              <a:buSzPct val="100000"/>
              <a:buFont typeface="Arial"/>
              <a:buChar char="•"/>
              <a:defRPr/>
            </a:pPr>
            <a:endParaRPr lang="en-US" sz="1400">
              <a:solidFill>
                <a:schemeClr val="bg1"/>
              </a:solidFill>
              <a:latin typeface="맑은 고딕"/>
              <a:ea typeface="맑은 고딕"/>
              <a:cs typeface="Arial"/>
            </a:endParaRPr>
          </a:p>
          <a:p>
            <a:pPr marL="342900" lvl="0" indent="-342900" algn="l">
              <a:lnSpc>
                <a:spcPts val="1800"/>
              </a:lnSpc>
              <a:buSzPct val="100000"/>
              <a:buChar char="•"/>
              <a:defRPr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4" name="Text 5"/>
          <p:cNvSpPr/>
          <p:nvPr/>
        </p:nvSpPr>
        <p:spPr>
          <a:xfrm>
            <a:off x="1151437" y="3553732"/>
            <a:ext cx="48969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sensitivity to heterogeneity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Text 6"/>
          <p:cNvSpPr/>
          <p:nvPr/>
        </p:nvSpPr>
        <p:spPr>
          <a:xfrm>
            <a:off x="922837" y="3896631"/>
            <a:ext cx="4896939" cy="714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극단적인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데이터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이질성 상황에서는 여전히 성능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저하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발생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Fisher Information Matrix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기반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동기화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방법의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수렴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문제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l">
              <a:lnSpc>
                <a:spcPts val="1800"/>
              </a:lnSpc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 8"/>
          <p:cNvSpPr/>
          <p:nvPr/>
        </p:nvSpPr>
        <p:spPr>
          <a:xfrm>
            <a:off x="6386114" y="1629682"/>
            <a:ext cx="20106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향후 연구 방향</a:t>
            </a:r>
            <a:endParaRPr lang="en-US" sz="2000" dirty="0"/>
          </a:p>
        </p:txBody>
      </p:sp>
      <p:sp>
        <p:nvSpPr>
          <p:cNvPr id="28" name="Text 9"/>
          <p:cNvSpPr/>
          <p:nvPr/>
        </p:nvSpPr>
        <p:spPr>
          <a:xfrm>
            <a:off x="6805214" y="2220232"/>
            <a:ext cx="48969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algorithmic improvements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9" name="Text 10"/>
          <p:cNvSpPr/>
          <p:nvPr/>
        </p:nvSpPr>
        <p:spPr>
          <a:xfrm>
            <a:off x="6576613" y="2563132"/>
            <a:ext cx="453217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매개변수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정렬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메커니스의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계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산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효율성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향상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adaptive client synchronization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메커니즘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개발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12"/>
          <p:cNvSpPr/>
          <p:nvPr/>
        </p:nvSpPr>
        <p:spPr>
          <a:xfrm>
            <a:off x="6786164" y="3553732"/>
            <a:ext cx="48969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application expansion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2" name="Text 13"/>
          <p:cNvSpPr/>
          <p:nvPr/>
        </p:nvSpPr>
        <p:spPr>
          <a:xfrm>
            <a:off x="6576614" y="3896631"/>
            <a:ext cx="4532169" cy="7238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FedAS를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다른 모델 아키텍처에 적용할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가능성</a:t>
            </a:r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연구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  <a:p>
            <a:pPr marL="171450" indent="-171450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실시간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/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모바일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환경에서의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FedAS적용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가능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여부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맑은 고딕" panose="020B0503020000020004" pitchFamily="50" charset="-127"/>
                <a:cs typeface="Arial" pitchFamily="34" charset="-120"/>
              </a:rPr>
              <a:t>탐색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 algn="l">
              <a:lnSpc>
                <a:spcPts val="18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4" name="Text 15"/>
          <p:cNvSpPr/>
          <p:nvPr/>
        </p:nvSpPr>
        <p:spPr>
          <a:xfrm>
            <a:off x="2298942" y="5237843"/>
            <a:ext cx="7594115" cy="6077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FedAS</a:t>
            </a:r>
            <a:r>
              <a:rPr lang="en-US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는 개인화 연합 학습의 불일치 문제를 효과적으로 해결하지만, 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en-US" b="1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추가</a:t>
            </a:r>
            <a:r>
              <a:rPr lang="en-US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개선과</a:t>
            </a:r>
            <a:r>
              <a:rPr lang="en-US" b="1" dirty="0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FF6B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확장</a:t>
            </a:r>
            <a:r>
              <a:rPr lang="ko-KR" altLang="en-US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이 필</a:t>
            </a:r>
            <a:r>
              <a:rPr lang="en-US" dirty="0" err="1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요함</a:t>
            </a:r>
            <a:r>
              <a:rPr lang="en-US" dirty="0">
                <a:solidFill>
                  <a:srgbClr val="F0F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6C42DFB-A03A-079D-FE96-192D66948D6C}"/>
              </a:ext>
            </a:extLst>
          </p:cNvPr>
          <p:cNvSpPr/>
          <p:nvPr/>
        </p:nvSpPr>
        <p:spPr>
          <a:xfrm>
            <a:off x="484637" y="2805233"/>
            <a:ext cx="11222725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B3E8CB5-A6A4-9627-4238-EE44222C76AE}"/>
              </a:ext>
            </a:extLst>
          </p:cNvPr>
          <p:cNvSpPr/>
          <p:nvPr/>
        </p:nvSpPr>
        <p:spPr>
          <a:xfrm>
            <a:off x="4166521" y="875755"/>
            <a:ext cx="3858956" cy="38589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827C4-6994-69D2-03BE-8896EBB7E86E}"/>
              </a:ext>
            </a:extLst>
          </p:cNvPr>
          <p:cNvSpPr txBox="1"/>
          <p:nvPr/>
        </p:nvSpPr>
        <p:spPr>
          <a:xfrm>
            <a:off x="4238529" y="2387923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F1EB9-5E50-21F5-6D72-6AE6794D5DFB}"/>
              </a:ext>
            </a:extLst>
          </p:cNvPr>
          <p:cNvSpPr txBox="1"/>
          <p:nvPr/>
        </p:nvSpPr>
        <p:spPr>
          <a:xfrm>
            <a:off x="4742585" y="5001697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600" b="1" dirty="0"/>
              <a:t>TEAM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4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9100724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1313</ep:Words>
  <ep:PresentationFormat>와이드스크린</ep:PresentationFormat>
  <ep:Paragraphs>396</ep:Paragraphs>
  <ep:Slides>23</ep:Slides>
  <ep:Notes>22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ep:HeadingPairs>
  <ep:TitlesOfParts>
    <vt:vector size="24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2025-11-23T17:33:49.000</dcterms:created>
  <dc:creator>조유진</dc:creator>
  <cp:lastModifiedBy>이다영</cp:lastModifiedBy>
  <dcterms:modified xsi:type="dcterms:W3CDTF">2025-11-29T12:31:30.503</dcterms:modified>
  <cp:revision>60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